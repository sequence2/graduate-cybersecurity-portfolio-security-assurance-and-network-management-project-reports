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sldIdLst>
    <p:sldId id="256" r:id="rId5"/>
    <p:sldId id="257" r:id="rId6"/>
    <p:sldId id="271" r:id="rId7"/>
    <p:sldId id="258" r:id="rId8"/>
    <p:sldId id="273" r:id="rId9"/>
    <p:sldId id="267" r:id="rId10"/>
    <p:sldId id="274" r:id="rId11"/>
    <p:sldId id="275" r:id="rId12"/>
    <p:sldId id="268" r:id="rId13"/>
    <p:sldId id="269" r:id="rId14"/>
    <p:sldId id="270" r:id="rId15"/>
    <p:sldId id="26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2" d="100"/>
          <a:sy n="112" d="100"/>
        </p:scale>
        <p:origin x="55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Cost-Benefit Analysis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2-B0F9-4FCD-80B5-13046F89B87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D1DF-4EA4-B3E9-C922221EC44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D1DF-4EA4-B3E9-C922221EC44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D1DF-4EA4-B3E9-C922221EC44A}"/>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D1DF-4EA4-B3E9-C922221EC44A}"/>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D1DF-4EA4-B3E9-C922221EC44A}"/>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Physical Control/CCTV Locks </c:v>
                </c:pt>
                <c:pt idx="1">
                  <c:v>Fingerprint Scanner</c:v>
                </c:pt>
                <c:pt idx="2">
                  <c:v>Technical Controls Facial Recognition</c:v>
                </c:pt>
                <c:pt idx="3">
                  <c:v>Detective/Auditing</c:v>
                </c:pt>
                <c:pt idx="4">
                  <c:v>Incident Response</c:v>
                </c:pt>
                <c:pt idx="5">
                  <c:v>Budget</c:v>
                </c:pt>
              </c:strCache>
            </c:strRef>
          </c:cat>
          <c:val>
            <c:numRef>
              <c:f>Sheet1!$B$2:$B$7</c:f>
              <c:numCache>
                <c:formatCode>"$"#,##0.00_);[Red]\("$"#,##0.00\)</c:formatCode>
                <c:ptCount val="6"/>
                <c:pt idx="0">
                  <c:v>100000</c:v>
                </c:pt>
                <c:pt idx="1">
                  <c:v>2000</c:v>
                </c:pt>
                <c:pt idx="2">
                  <c:v>1500</c:v>
                </c:pt>
                <c:pt idx="3" formatCode="General">
                  <c:v>0</c:v>
                </c:pt>
                <c:pt idx="4" formatCode="General">
                  <c:v>0</c:v>
                </c:pt>
                <c:pt idx="5">
                  <c:v>20000</c:v>
                </c:pt>
              </c:numCache>
            </c:numRef>
          </c:val>
          <c:extLst>
            <c:ext xmlns:c16="http://schemas.microsoft.com/office/drawing/2014/chart" uri="{C3380CC4-5D6E-409C-BE32-E72D297353CC}">
              <c16:uniqueId val="{00000000-B0F9-4FCD-80B5-13046F89B873}"/>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legendEntry>
        <c:idx val="1"/>
        <c:txPr>
          <a:bodyPr rot="0" spcFirstLastPara="1" vertOverflow="ellipsis" vert="horz" wrap="square" anchor="ctr" anchorCtr="1"/>
          <a:lstStyle/>
          <a:p>
            <a:pPr>
              <a:defRPr sz="1250" b="0" i="0" u="none" strike="noStrike" kern="1200" baseline="0">
                <a:solidFill>
                  <a:schemeClr val="tx1">
                    <a:lumMod val="65000"/>
                    <a:lumOff val="35000"/>
                  </a:schemeClr>
                </a:solidFill>
                <a:latin typeface="+mn-lt"/>
                <a:ea typeface="+mn-ea"/>
                <a:cs typeface="+mn-cs"/>
              </a:defRPr>
            </a:pPr>
            <a:endParaRPr lang="en-US"/>
          </a:p>
        </c:txPr>
      </c:legendEntry>
      <c:layout>
        <c:manualLayout>
          <c:xMode val="edge"/>
          <c:yMode val="edge"/>
          <c:x val="0.33728784732230865"/>
          <c:y val="0.87763294671648939"/>
          <c:w val="0.66059377691124865"/>
          <c:h val="0.1210291832988431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5502B-1BF8-4994-AA16-906A5B690657}" type="datetimeFigureOut">
              <a:rPr lang="en-US" smtClean="0"/>
              <a:t>10/14/2024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758346-B4AA-4A36-BC3C-4F8C795F6877}" type="slidenum">
              <a:rPr lang="en-US" smtClean="0"/>
              <a:t>‹#›</a:t>
            </a:fld>
            <a:endParaRPr lang="en-US"/>
          </a:p>
        </p:txBody>
      </p:sp>
    </p:spTree>
    <p:extLst>
      <p:ext uri="{BB962C8B-B14F-4D97-AF65-F5344CB8AC3E}">
        <p14:creationId xmlns:p14="http://schemas.microsoft.com/office/powerpoint/2010/main" val="1294058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83A979-AA08-47CE-88C8-B65104E1B07A}" type="slidenum">
              <a:rPr lang="en-US" smtClean="0"/>
              <a:t>5</a:t>
            </a:fld>
            <a:endParaRPr lang="en-US"/>
          </a:p>
        </p:txBody>
      </p:sp>
    </p:spTree>
    <p:extLst>
      <p:ext uri="{BB962C8B-B14F-4D97-AF65-F5344CB8AC3E}">
        <p14:creationId xmlns:p14="http://schemas.microsoft.com/office/powerpoint/2010/main" val="4203950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EB4D7-A579-4FAA-A207-5D0DDF86AE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DE95036-7479-4C3D-B365-723BE8798A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191745A-FBB3-442D-9D6A-27C9BF0D5AF4}"/>
              </a:ext>
            </a:extLst>
          </p:cNvPr>
          <p:cNvSpPr>
            <a:spLocks noGrp="1"/>
          </p:cNvSpPr>
          <p:nvPr>
            <p:ph type="dt" sz="half" idx="10"/>
          </p:nvPr>
        </p:nvSpPr>
        <p:spPr/>
        <p:txBody>
          <a:bodyPr/>
          <a:lstStyle/>
          <a:p>
            <a:fld id="{01269CA7-D5F8-461D-ADB9-D1A57E22DCCD}" type="datetimeFigureOut">
              <a:rPr lang="en-US" smtClean="0"/>
              <a:t>10/14/2024</a:t>
            </a:fld>
            <a:endParaRPr lang="en-US"/>
          </a:p>
        </p:txBody>
      </p:sp>
      <p:sp>
        <p:nvSpPr>
          <p:cNvPr id="5" name="Footer Placeholder 4">
            <a:extLst>
              <a:ext uri="{FF2B5EF4-FFF2-40B4-BE49-F238E27FC236}">
                <a16:creationId xmlns:a16="http://schemas.microsoft.com/office/drawing/2014/main" id="{8FFA07E8-A268-4E7F-8070-19AF2063C8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90AD13-3018-47C5-891D-B02C46C2C80F}"/>
              </a:ext>
            </a:extLst>
          </p:cNvPr>
          <p:cNvSpPr>
            <a:spLocks noGrp="1"/>
          </p:cNvSpPr>
          <p:nvPr>
            <p:ph type="sldNum" sz="quarter" idx="12"/>
          </p:nvPr>
        </p:nvSpPr>
        <p:spPr/>
        <p:txBody>
          <a:bodyPr/>
          <a:lstStyle/>
          <a:p>
            <a:fld id="{DC138A72-E340-4934-A7A9-E52F18F57C69}" type="slidenum">
              <a:rPr lang="en-US" smtClean="0"/>
              <a:t>‹#›</a:t>
            </a:fld>
            <a:endParaRPr lang="en-US"/>
          </a:p>
        </p:txBody>
      </p:sp>
    </p:spTree>
    <p:extLst>
      <p:ext uri="{BB962C8B-B14F-4D97-AF65-F5344CB8AC3E}">
        <p14:creationId xmlns:p14="http://schemas.microsoft.com/office/powerpoint/2010/main" val="4206807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80A3D-1CEB-42E2-95F8-47EBE6B964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1B959A-566D-4635-B1FB-F163A24885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AC7D96-502A-46EE-B356-1EDF3031FBB4}"/>
              </a:ext>
            </a:extLst>
          </p:cNvPr>
          <p:cNvSpPr>
            <a:spLocks noGrp="1"/>
          </p:cNvSpPr>
          <p:nvPr>
            <p:ph type="dt" sz="half" idx="10"/>
          </p:nvPr>
        </p:nvSpPr>
        <p:spPr/>
        <p:txBody>
          <a:bodyPr/>
          <a:lstStyle/>
          <a:p>
            <a:fld id="{01269CA7-D5F8-461D-ADB9-D1A57E22DCCD}" type="datetimeFigureOut">
              <a:rPr lang="en-US" smtClean="0"/>
              <a:t>10/14/2024</a:t>
            </a:fld>
            <a:endParaRPr lang="en-US"/>
          </a:p>
        </p:txBody>
      </p:sp>
      <p:sp>
        <p:nvSpPr>
          <p:cNvPr id="5" name="Footer Placeholder 4">
            <a:extLst>
              <a:ext uri="{FF2B5EF4-FFF2-40B4-BE49-F238E27FC236}">
                <a16:creationId xmlns:a16="http://schemas.microsoft.com/office/drawing/2014/main" id="{2BFFBD92-7475-43B9-8322-B08430948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70EC1C-EF5F-4BFA-B23B-47701EE16B94}"/>
              </a:ext>
            </a:extLst>
          </p:cNvPr>
          <p:cNvSpPr>
            <a:spLocks noGrp="1"/>
          </p:cNvSpPr>
          <p:nvPr>
            <p:ph type="sldNum" sz="quarter" idx="12"/>
          </p:nvPr>
        </p:nvSpPr>
        <p:spPr/>
        <p:txBody>
          <a:bodyPr/>
          <a:lstStyle/>
          <a:p>
            <a:fld id="{DC138A72-E340-4934-A7A9-E52F18F57C69}" type="slidenum">
              <a:rPr lang="en-US" smtClean="0"/>
              <a:t>‹#›</a:t>
            </a:fld>
            <a:endParaRPr lang="en-US"/>
          </a:p>
        </p:txBody>
      </p:sp>
    </p:spTree>
    <p:extLst>
      <p:ext uri="{BB962C8B-B14F-4D97-AF65-F5344CB8AC3E}">
        <p14:creationId xmlns:p14="http://schemas.microsoft.com/office/powerpoint/2010/main" val="3043757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CDE64-FD07-4C06-87C5-BD87D76D06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EC014A-11D0-4E6E-8805-57226E91FD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8CB4D2-DCD8-4739-AD70-E622332CBA04}"/>
              </a:ext>
            </a:extLst>
          </p:cNvPr>
          <p:cNvSpPr>
            <a:spLocks noGrp="1"/>
          </p:cNvSpPr>
          <p:nvPr>
            <p:ph type="dt" sz="half" idx="10"/>
          </p:nvPr>
        </p:nvSpPr>
        <p:spPr/>
        <p:txBody>
          <a:bodyPr/>
          <a:lstStyle/>
          <a:p>
            <a:fld id="{01269CA7-D5F8-461D-ADB9-D1A57E22DCCD}" type="datetimeFigureOut">
              <a:rPr lang="en-US" smtClean="0"/>
              <a:t>10/14/2024</a:t>
            </a:fld>
            <a:endParaRPr lang="en-US"/>
          </a:p>
        </p:txBody>
      </p:sp>
      <p:sp>
        <p:nvSpPr>
          <p:cNvPr id="5" name="Footer Placeholder 4">
            <a:extLst>
              <a:ext uri="{FF2B5EF4-FFF2-40B4-BE49-F238E27FC236}">
                <a16:creationId xmlns:a16="http://schemas.microsoft.com/office/drawing/2014/main" id="{F58B1E17-247B-4F85-8680-16E469CE08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9C4D38-7CCF-4BD9-B269-71162AE581C6}"/>
              </a:ext>
            </a:extLst>
          </p:cNvPr>
          <p:cNvSpPr>
            <a:spLocks noGrp="1"/>
          </p:cNvSpPr>
          <p:nvPr>
            <p:ph type="sldNum" sz="quarter" idx="12"/>
          </p:nvPr>
        </p:nvSpPr>
        <p:spPr/>
        <p:txBody>
          <a:bodyPr/>
          <a:lstStyle/>
          <a:p>
            <a:fld id="{DC138A72-E340-4934-A7A9-E52F18F57C69}" type="slidenum">
              <a:rPr lang="en-US" smtClean="0"/>
              <a:t>‹#›</a:t>
            </a:fld>
            <a:endParaRPr lang="en-US"/>
          </a:p>
        </p:txBody>
      </p:sp>
    </p:spTree>
    <p:extLst>
      <p:ext uri="{BB962C8B-B14F-4D97-AF65-F5344CB8AC3E}">
        <p14:creationId xmlns:p14="http://schemas.microsoft.com/office/powerpoint/2010/main" val="2440882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E7FE4-8821-4A14-ADBC-34CA41A024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C16B45-1511-4AD5-9D51-A2D0F45EFE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91D2DE-1CF2-4CED-BDDB-0CFEB46A26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79C156-7D83-41CC-BB46-2F193F46C1BC}"/>
              </a:ext>
            </a:extLst>
          </p:cNvPr>
          <p:cNvSpPr>
            <a:spLocks noGrp="1"/>
          </p:cNvSpPr>
          <p:nvPr>
            <p:ph type="dt" sz="half" idx="10"/>
          </p:nvPr>
        </p:nvSpPr>
        <p:spPr/>
        <p:txBody>
          <a:bodyPr/>
          <a:lstStyle/>
          <a:p>
            <a:fld id="{01269CA7-D5F8-461D-ADB9-D1A57E22DCCD}" type="datetimeFigureOut">
              <a:rPr lang="en-US" smtClean="0"/>
              <a:t>10/14/2024</a:t>
            </a:fld>
            <a:endParaRPr lang="en-US"/>
          </a:p>
        </p:txBody>
      </p:sp>
      <p:sp>
        <p:nvSpPr>
          <p:cNvPr id="6" name="Footer Placeholder 5">
            <a:extLst>
              <a:ext uri="{FF2B5EF4-FFF2-40B4-BE49-F238E27FC236}">
                <a16:creationId xmlns:a16="http://schemas.microsoft.com/office/drawing/2014/main" id="{5556E543-F87B-4C7D-89C8-390E4440C8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EA6F42-61C3-4FE3-80A4-232486C9013B}"/>
              </a:ext>
            </a:extLst>
          </p:cNvPr>
          <p:cNvSpPr>
            <a:spLocks noGrp="1"/>
          </p:cNvSpPr>
          <p:nvPr>
            <p:ph type="sldNum" sz="quarter" idx="12"/>
          </p:nvPr>
        </p:nvSpPr>
        <p:spPr/>
        <p:txBody>
          <a:bodyPr/>
          <a:lstStyle/>
          <a:p>
            <a:fld id="{DC138A72-E340-4934-A7A9-E52F18F57C69}" type="slidenum">
              <a:rPr lang="en-US" smtClean="0"/>
              <a:t>‹#›</a:t>
            </a:fld>
            <a:endParaRPr lang="en-US"/>
          </a:p>
        </p:txBody>
      </p:sp>
    </p:spTree>
    <p:extLst>
      <p:ext uri="{BB962C8B-B14F-4D97-AF65-F5344CB8AC3E}">
        <p14:creationId xmlns:p14="http://schemas.microsoft.com/office/powerpoint/2010/main" val="1976211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4D871-F223-46EB-96D4-7E2580AD93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FCADD-9FD6-4CAF-923B-FA6D59B636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274CC8-2511-44C7-8BBF-E019529697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CBA1B16-6821-4BC7-9174-2A18969587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64976D-D8FE-4E7A-9314-DD8431EE7C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142206-436D-45FD-8BBD-A1AD129DA6BC}"/>
              </a:ext>
            </a:extLst>
          </p:cNvPr>
          <p:cNvSpPr>
            <a:spLocks noGrp="1"/>
          </p:cNvSpPr>
          <p:nvPr>
            <p:ph type="dt" sz="half" idx="10"/>
          </p:nvPr>
        </p:nvSpPr>
        <p:spPr/>
        <p:txBody>
          <a:bodyPr/>
          <a:lstStyle/>
          <a:p>
            <a:fld id="{01269CA7-D5F8-461D-ADB9-D1A57E22DCCD}" type="datetimeFigureOut">
              <a:rPr lang="en-US" smtClean="0"/>
              <a:t>10/14/2024</a:t>
            </a:fld>
            <a:endParaRPr lang="en-US"/>
          </a:p>
        </p:txBody>
      </p:sp>
      <p:sp>
        <p:nvSpPr>
          <p:cNvPr id="8" name="Footer Placeholder 7">
            <a:extLst>
              <a:ext uri="{FF2B5EF4-FFF2-40B4-BE49-F238E27FC236}">
                <a16:creationId xmlns:a16="http://schemas.microsoft.com/office/drawing/2014/main" id="{66A428A0-F612-4832-8EEE-DDE131D6E7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7CBA544-86C3-4E5A-9FEF-1F07447A5B89}"/>
              </a:ext>
            </a:extLst>
          </p:cNvPr>
          <p:cNvSpPr>
            <a:spLocks noGrp="1"/>
          </p:cNvSpPr>
          <p:nvPr>
            <p:ph type="sldNum" sz="quarter" idx="12"/>
          </p:nvPr>
        </p:nvSpPr>
        <p:spPr/>
        <p:txBody>
          <a:bodyPr/>
          <a:lstStyle/>
          <a:p>
            <a:fld id="{DC138A72-E340-4934-A7A9-E52F18F57C69}" type="slidenum">
              <a:rPr lang="en-US" smtClean="0"/>
              <a:t>‹#›</a:t>
            </a:fld>
            <a:endParaRPr lang="en-US"/>
          </a:p>
        </p:txBody>
      </p:sp>
    </p:spTree>
    <p:extLst>
      <p:ext uri="{BB962C8B-B14F-4D97-AF65-F5344CB8AC3E}">
        <p14:creationId xmlns:p14="http://schemas.microsoft.com/office/powerpoint/2010/main" val="3826882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9C8D2-F9C0-42DE-B99A-58BDB7CD8AD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CD9E222-5CAD-4DCD-A48C-7445CD29A7FA}"/>
              </a:ext>
            </a:extLst>
          </p:cNvPr>
          <p:cNvSpPr>
            <a:spLocks noGrp="1"/>
          </p:cNvSpPr>
          <p:nvPr>
            <p:ph type="dt" sz="half" idx="10"/>
          </p:nvPr>
        </p:nvSpPr>
        <p:spPr/>
        <p:txBody>
          <a:bodyPr/>
          <a:lstStyle/>
          <a:p>
            <a:fld id="{01269CA7-D5F8-461D-ADB9-D1A57E22DCCD}" type="datetimeFigureOut">
              <a:rPr lang="en-US" smtClean="0"/>
              <a:t>10/14/2024</a:t>
            </a:fld>
            <a:endParaRPr lang="en-US"/>
          </a:p>
        </p:txBody>
      </p:sp>
      <p:sp>
        <p:nvSpPr>
          <p:cNvPr id="4" name="Footer Placeholder 3">
            <a:extLst>
              <a:ext uri="{FF2B5EF4-FFF2-40B4-BE49-F238E27FC236}">
                <a16:creationId xmlns:a16="http://schemas.microsoft.com/office/drawing/2014/main" id="{12367C33-980D-4D8E-892A-8A099F04046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8D5135A-F819-4E89-9BF7-C238329DF405}"/>
              </a:ext>
            </a:extLst>
          </p:cNvPr>
          <p:cNvSpPr>
            <a:spLocks noGrp="1"/>
          </p:cNvSpPr>
          <p:nvPr>
            <p:ph type="sldNum" sz="quarter" idx="12"/>
          </p:nvPr>
        </p:nvSpPr>
        <p:spPr/>
        <p:txBody>
          <a:bodyPr/>
          <a:lstStyle/>
          <a:p>
            <a:fld id="{DC138A72-E340-4934-A7A9-E52F18F57C69}" type="slidenum">
              <a:rPr lang="en-US" smtClean="0"/>
              <a:t>‹#›</a:t>
            </a:fld>
            <a:endParaRPr lang="en-US"/>
          </a:p>
        </p:txBody>
      </p:sp>
    </p:spTree>
    <p:extLst>
      <p:ext uri="{BB962C8B-B14F-4D97-AF65-F5344CB8AC3E}">
        <p14:creationId xmlns:p14="http://schemas.microsoft.com/office/powerpoint/2010/main" val="672904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902D00-CCE7-436A-BE06-BC2ACA75F592}"/>
              </a:ext>
            </a:extLst>
          </p:cNvPr>
          <p:cNvSpPr>
            <a:spLocks noGrp="1"/>
          </p:cNvSpPr>
          <p:nvPr>
            <p:ph type="dt" sz="half" idx="10"/>
          </p:nvPr>
        </p:nvSpPr>
        <p:spPr/>
        <p:txBody>
          <a:bodyPr/>
          <a:lstStyle/>
          <a:p>
            <a:fld id="{01269CA7-D5F8-461D-ADB9-D1A57E22DCCD}" type="datetimeFigureOut">
              <a:rPr lang="en-US" smtClean="0"/>
              <a:t>10/14/2024</a:t>
            </a:fld>
            <a:endParaRPr lang="en-US"/>
          </a:p>
        </p:txBody>
      </p:sp>
      <p:sp>
        <p:nvSpPr>
          <p:cNvPr id="3" name="Footer Placeholder 2">
            <a:extLst>
              <a:ext uri="{FF2B5EF4-FFF2-40B4-BE49-F238E27FC236}">
                <a16:creationId xmlns:a16="http://schemas.microsoft.com/office/drawing/2014/main" id="{D82F8B66-852F-4CEC-AA9C-876FD03C60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454B28-E8F2-42D7-9AE6-0497DF25B6C7}"/>
              </a:ext>
            </a:extLst>
          </p:cNvPr>
          <p:cNvSpPr>
            <a:spLocks noGrp="1"/>
          </p:cNvSpPr>
          <p:nvPr>
            <p:ph type="sldNum" sz="quarter" idx="12"/>
          </p:nvPr>
        </p:nvSpPr>
        <p:spPr/>
        <p:txBody>
          <a:bodyPr/>
          <a:lstStyle/>
          <a:p>
            <a:fld id="{DC138A72-E340-4934-A7A9-E52F18F57C69}" type="slidenum">
              <a:rPr lang="en-US" smtClean="0"/>
              <a:t>‹#›</a:t>
            </a:fld>
            <a:endParaRPr lang="en-US"/>
          </a:p>
        </p:txBody>
      </p:sp>
    </p:spTree>
    <p:extLst>
      <p:ext uri="{BB962C8B-B14F-4D97-AF65-F5344CB8AC3E}">
        <p14:creationId xmlns:p14="http://schemas.microsoft.com/office/powerpoint/2010/main" val="1500883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455C7-BA1D-415E-975E-1183591876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C654FA-000B-419D-9A92-4FDD722313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D8F052-0D83-4761-AD08-9043B4F13C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203928-9DF9-46A4-B5EA-9E57CD92B98B}"/>
              </a:ext>
            </a:extLst>
          </p:cNvPr>
          <p:cNvSpPr>
            <a:spLocks noGrp="1"/>
          </p:cNvSpPr>
          <p:nvPr>
            <p:ph type="dt" sz="half" idx="10"/>
          </p:nvPr>
        </p:nvSpPr>
        <p:spPr/>
        <p:txBody>
          <a:bodyPr/>
          <a:lstStyle/>
          <a:p>
            <a:fld id="{01269CA7-D5F8-461D-ADB9-D1A57E22DCCD}" type="datetimeFigureOut">
              <a:rPr lang="en-US" smtClean="0"/>
              <a:t>10/14/2024</a:t>
            </a:fld>
            <a:endParaRPr lang="en-US"/>
          </a:p>
        </p:txBody>
      </p:sp>
      <p:sp>
        <p:nvSpPr>
          <p:cNvPr id="6" name="Footer Placeholder 5">
            <a:extLst>
              <a:ext uri="{FF2B5EF4-FFF2-40B4-BE49-F238E27FC236}">
                <a16:creationId xmlns:a16="http://schemas.microsoft.com/office/drawing/2014/main" id="{AA251FF9-452F-4EEE-8E99-6CA6D0C413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CC5BAD-29FE-4B87-A1D7-BE15270C0326}"/>
              </a:ext>
            </a:extLst>
          </p:cNvPr>
          <p:cNvSpPr>
            <a:spLocks noGrp="1"/>
          </p:cNvSpPr>
          <p:nvPr>
            <p:ph type="sldNum" sz="quarter" idx="12"/>
          </p:nvPr>
        </p:nvSpPr>
        <p:spPr/>
        <p:txBody>
          <a:bodyPr/>
          <a:lstStyle/>
          <a:p>
            <a:fld id="{DC138A72-E340-4934-A7A9-E52F18F57C69}" type="slidenum">
              <a:rPr lang="en-US" smtClean="0"/>
              <a:t>‹#›</a:t>
            </a:fld>
            <a:endParaRPr lang="en-US"/>
          </a:p>
        </p:txBody>
      </p:sp>
    </p:spTree>
    <p:extLst>
      <p:ext uri="{BB962C8B-B14F-4D97-AF65-F5344CB8AC3E}">
        <p14:creationId xmlns:p14="http://schemas.microsoft.com/office/powerpoint/2010/main" val="3715966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1110B-629F-4354-9E7F-91A15A608A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55C98B-D027-4A89-8DD8-9B5CD18ED6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63B29AC-5FAD-40F3-BC84-F695915601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D2CC35-678D-416B-8640-52EFC52C331B}"/>
              </a:ext>
            </a:extLst>
          </p:cNvPr>
          <p:cNvSpPr>
            <a:spLocks noGrp="1"/>
          </p:cNvSpPr>
          <p:nvPr>
            <p:ph type="dt" sz="half" idx="10"/>
          </p:nvPr>
        </p:nvSpPr>
        <p:spPr/>
        <p:txBody>
          <a:bodyPr/>
          <a:lstStyle/>
          <a:p>
            <a:fld id="{01269CA7-D5F8-461D-ADB9-D1A57E22DCCD}" type="datetimeFigureOut">
              <a:rPr lang="en-US" smtClean="0"/>
              <a:t>10/14/2024</a:t>
            </a:fld>
            <a:endParaRPr lang="en-US"/>
          </a:p>
        </p:txBody>
      </p:sp>
      <p:sp>
        <p:nvSpPr>
          <p:cNvPr id="6" name="Footer Placeholder 5">
            <a:extLst>
              <a:ext uri="{FF2B5EF4-FFF2-40B4-BE49-F238E27FC236}">
                <a16:creationId xmlns:a16="http://schemas.microsoft.com/office/drawing/2014/main" id="{433AE256-0ECE-4A3C-AD3E-A73BBDB919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4A537F-093E-4C91-9AE9-B1F06640F052}"/>
              </a:ext>
            </a:extLst>
          </p:cNvPr>
          <p:cNvSpPr>
            <a:spLocks noGrp="1"/>
          </p:cNvSpPr>
          <p:nvPr>
            <p:ph type="sldNum" sz="quarter" idx="12"/>
          </p:nvPr>
        </p:nvSpPr>
        <p:spPr/>
        <p:txBody>
          <a:bodyPr/>
          <a:lstStyle/>
          <a:p>
            <a:fld id="{DC138A72-E340-4934-A7A9-E52F18F57C69}" type="slidenum">
              <a:rPr lang="en-US" smtClean="0"/>
              <a:t>‹#›</a:t>
            </a:fld>
            <a:endParaRPr lang="en-US"/>
          </a:p>
        </p:txBody>
      </p:sp>
    </p:spTree>
    <p:extLst>
      <p:ext uri="{BB962C8B-B14F-4D97-AF65-F5344CB8AC3E}">
        <p14:creationId xmlns:p14="http://schemas.microsoft.com/office/powerpoint/2010/main" val="1631992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22844-36E3-4D33-8F32-DBB20B3C2F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1A62F7-44EE-46BB-AB61-B08658BD20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D00C26-3493-46DA-AD31-A629F4487131}"/>
              </a:ext>
            </a:extLst>
          </p:cNvPr>
          <p:cNvSpPr>
            <a:spLocks noGrp="1"/>
          </p:cNvSpPr>
          <p:nvPr>
            <p:ph type="dt" sz="half" idx="10"/>
          </p:nvPr>
        </p:nvSpPr>
        <p:spPr/>
        <p:txBody>
          <a:bodyPr/>
          <a:lstStyle/>
          <a:p>
            <a:fld id="{01269CA7-D5F8-461D-ADB9-D1A57E22DCCD}" type="datetimeFigureOut">
              <a:rPr lang="en-US" smtClean="0"/>
              <a:t>10/14/2024</a:t>
            </a:fld>
            <a:endParaRPr lang="en-US"/>
          </a:p>
        </p:txBody>
      </p:sp>
      <p:sp>
        <p:nvSpPr>
          <p:cNvPr id="5" name="Footer Placeholder 4">
            <a:extLst>
              <a:ext uri="{FF2B5EF4-FFF2-40B4-BE49-F238E27FC236}">
                <a16:creationId xmlns:a16="http://schemas.microsoft.com/office/drawing/2014/main" id="{1104588C-A355-47BF-A14F-76FDF8B8D4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3792F4-F36A-46E0-9372-A8FA126F8AD8}"/>
              </a:ext>
            </a:extLst>
          </p:cNvPr>
          <p:cNvSpPr>
            <a:spLocks noGrp="1"/>
          </p:cNvSpPr>
          <p:nvPr>
            <p:ph type="sldNum" sz="quarter" idx="12"/>
          </p:nvPr>
        </p:nvSpPr>
        <p:spPr/>
        <p:txBody>
          <a:bodyPr/>
          <a:lstStyle/>
          <a:p>
            <a:fld id="{DC138A72-E340-4934-A7A9-E52F18F57C69}" type="slidenum">
              <a:rPr lang="en-US" smtClean="0"/>
              <a:t>‹#›</a:t>
            </a:fld>
            <a:endParaRPr lang="en-US"/>
          </a:p>
        </p:txBody>
      </p:sp>
    </p:spTree>
    <p:extLst>
      <p:ext uri="{BB962C8B-B14F-4D97-AF65-F5344CB8AC3E}">
        <p14:creationId xmlns:p14="http://schemas.microsoft.com/office/powerpoint/2010/main" val="2053016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CE9B58-537A-4F68-87F1-42D0D32E14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E441B4-6C4C-470D-9A3D-3797D9EC3F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06DE1E-069E-44AC-B5B6-96ACE04F0FE3}"/>
              </a:ext>
            </a:extLst>
          </p:cNvPr>
          <p:cNvSpPr>
            <a:spLocks noGrp="1"/>
          </p:cNvSpPr>
          <p:nvPr>
            <p:ph type="dt" sz="half" idx="10"/>
          </p:nvPr>
        </p:nvSpPr>
        <p:spPr/>
        <p:txBody>
          <a:bodyPr/>
          <a:lstStyle/>
          <a:p>
            <a:fld id="{01269CA7-D5F8-461D-ADB9-D1A57E22DCCD}" type="datetimeFigureOut">
              <a:rPr lang="en-US" smtClean="0"/>
              <a:t>10/14/2024</a:t>
            </a:fld>
            <a:endParaRPr lang="en-US"/>
          </a:p>
        </p:txBody>
      </p:sp>
      <p:sp>
        <p:nvSpPr>
          <p:cNvPr id="5" name="Footer Placeholder 4">
            <a:extLst>
              <a:ext uri="{FF2B5EF4-FFF2-40B4-BE49-F238E27FC236}">
                <a16:creationId xmlns:a16="http://schemas.microsoft.com/office/drawing/2014/main" id="{5675FA6C-C448-4F6D-A671-05AB72FBA4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04B0CC-99EF-4802-84CA-B93027E4F173}"/>
              </a:ext>
            </a:extLst>
          </p:cNvPr>
          <p:cNvSpPr>
            <a:spLocks noGrp="1"/>
          </p:cNvSpPr>
          <p:nvPr>
            <p:ph type="sldNum" sz="quarter" idx="12"/>
          </p:nvPr>
        </p:nvSpPr>
        <p:spPr/>
        <p:txBody>
          <a:bodyPr/>
          <a:lstStyle/>
          <a:p>
            <a:fld id="{DC138A72-E340-4934-A7A9-E52F18F57C69}" type="slidenum">
              <a:rPr lang="en-US" smtClean="0"/>
              <a:t>‹#›</a:t>
            </a:fld>
            <a:endParaRPr lang="en-US"/>
          </a:p>
        </p:txBody>
      </p:sp>
    </p:spTree>
    <p:extLst>
      <p:ext uri="{BB962C8B-B14F-4D97-AF65-F5344CB8AC3E}">
        <p14:creationId xmlns:p14="http://schemas.microsoft.com/office/powerpoint/2010/main" val="369265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0721DF-A457-4D82-B0AD-6427A255F8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F34C29D-8967-45EB-8001-6DFA830A1C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58C020-176E-4A8D-9E13-8A8099AC58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269CA7-D5F8-461D-ADB9-D1A57E22DCCD}" type="datetimeFigureOut">
              <a:rPr lang="en-US" smtClean="0"/>
              <a:t>10/14/2024</a:t>
            </a:fld>
            <a:endParaRPr lang="en-US"/>
          </a:p>
        </p:txBody>
      </p:sp>
      <p:sp>
        <p:nvSpPr>
          <p:cNvPr id="5" name="Footer Placeholder 4">
            <a:extLst>
              <a:ext uri="{FF2B5EF4-FFF2-40B4-BE49-F238E27FC236}">
                <a16:creationId xmlns:a16="http://schemas.microsoft.com/office/drawing/2014/main" id="{850872E0-7723-48F1-9FFE-3F0603F860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28AC10B-5D2C-4D59-BF37-2EE22DC16E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138A72-E340-4934-A7A9-E52F18F57C69}" type="slidenum">
              <a:rPr lang="en-US" smtClean="0"/>
              <a:t>‹#›</a:t>
            </a:fld>
            <a:endParaRPr lang="en-US"/>
          </a:p>
        </p:txBody>
      </p:sp>
    </p:spTree>
    <p:extLst>
      <p:ext uri="{BB962C8B-B14F-4D97-AF65-F5344CB8AC3E}">
        <p14:creationId xmlns:p14="http://schemas.microsoft.com/office/powerpoint/2010/main" val="1465288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D4767-71A8-4E1E-AA4A-A16B2BD4225D}"/>
              </a:ext>
            </a:extLst>
          </p:cNvPr>
          <p:cNvSpPr>
            <a:spLocks noGrp="1"/>
          </p:cNvSpPr>
          <p:nvPr>
            <p:ph type="ctrTitle"/>
          </p:nvPr>
        </p:nvSpPr>
        <p:spPr/>
        <p:txBody>
          <a:bodyPr/>
          <a:lstStyle/>
          <a:p>
            <a:r>
              <a:rPr lang="en-US" dirty="0"/>
              <a:t>SEC572</a:t>
            </a:r>
            <a:br>
              <a:rPr lang="en-US" dirty="0"/>
            </a:br>
            <a:r>
              <a:rPr lang="en-US" dirty="0"/>
              <a:t>Week 6</a:t>
            </a:r>
          </a:p>
        </p:txBody>
      </p:sp>
      <p:sp>
        <p:nvSpPr>
          <p:cNvPr id="3" name="Subtitle 2">
            <a:extLst>
              <a:ext uri="{FF2B5EF4-FFF2-40B4-BE49-F238E27FC236}">
                <a16:creationId xmlns:a16="http://schemas.microsoft.com/office/drawing/2014/main" id="{8058C640-75A1-43D2-93E2-CC15394E0BB2}"/>
              </a:ext>
            </a:extLst>
          </p:cNvPr>
          <p:cNvSpPr>
            <a:spLocks noGrp="1"/>
          </p:cNvSpPr>
          <p:nvPr>
            <p:ph type="subTitle" idx="1"/>
          </p:nvPr>
        </p:nvSpPr>
        <p:spPr/>
        <p:txBody>
          <a:bodyPr/>
          <a:lstStyle/>
          <a:p>
            <a:r>
              <a:rPr lang="en-US" dirty="0"/>
              <a:t>Implementation Plan</a:t>
            </a:r>
          </a:p>
        </p:txBody>
      </p:sp>
    </p:spTree>
    <p:extLst>
      <p:ext uri="{BB962C8B-B14F-4D97-AF65-F5344CB8AC3E}">
        <p14:creationId xmlns:p14="http://schemas.microsoft.com/office/powerpoint/2010/main" val="3360656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B3B4B-C254-4050-81F1-7C96297F3FF6}"/>
              </a:ext>
            </a:extLst>
          </p:cNvPr>
          <p:cNvSpPr>
            <a:spLocks noGrp="1"/>
          </p:cNvSpPr>
          <p:nvPr>
            <p:ph type="title"/>
          </p:nvPr>
        </p:nvSpPr>
        <p:spPr/>
        <p:txBody>
          <a:bodyPr/>
          <a:lstStyle/>
          <a:p>
            <a:r>
              <a:rPr lang="en-US" dirty="0"/>
              <a:t>Rubric</a:t>
            </a:r>
          </a:p>
        </p:txBody>
      </p:sp>
      <p:graphicFrame>
        <p:nvGraphicFramePr>
          <p:cNvPr id="6" name="Table 5">
            <a:extLst>
              <a:ext uri="{FF2B5EF4-FFF2-40B4-BE49-F238E27FC236}">
                <a16:creationId xmlns:a16="http://schemas.microsoft.com/office/drawing/2014/main" id="{DEFBB485-B9C3-46CF-8649-0BB47E467B64}"/>
              </a:ext>
            </a:extLst>
          </p:cNvPr>
          <p:cNvGraphicFramePr>
            <a:graphicFrameLocks noGrp="1"/>
          </p:cNvGraphicFramePr>
          <p:nvPr>
            <p:extLst>
              <p:ext uri="{D42A27DB-BD31-4B8C-83A1-F6EECF244321}">
                <p14:modId xmlns:p14="http://schemas.microsoft.com/office/powerpoint/2010/main" val="3632579132"/>
              </p:ext>
            </p:extLst>
          </p:nvPr>
        </p:nvGraphicFramePr>
        <p:xfrm>
          <a:off x="1283368" y="1546309"/>
          <a:ext cx="8995611" cy="4131501"/>
        </p:xfrm>
        <a:graphic>
          <a:graphicData uri="http://schemas.openxmlformats.org/drawingml/2006/table">
            <a:tbl>
              <a:tblPr firstRow="1" bandRow="1">
                <a:tableStyleId>{5C22544A-7EE6-4342-B048-85BDC9FD1C3A}</a:tableStyleId>
              </a:tblPr>
              <a:tblGrid>
                <a:gridCol w="7819572">
                  <a:extLst>
                    <a:ext uri="{9D8B030D-6E8A-4147-A177-3AD203B41FA5}">
                      <a16:colId xmlns:a16="http://schemas.microsoft.com/office/drawing/2014/main" val="2962744681"/>
                    </a:ext>
                  </a:extLst>
                </a:gridCol>
                <a:gridCol w="1176039">
                  <a:extLst>
                    <a:ext uri="{9D8B030D-6E8A-4147-A177-3AD203B41FA5}">
                      <a16:colId xmlns:a16="http://schemas.microsoft.com/office/drawing/2014/main" val="24572255"/>
                    </a:ext>
                  </a:extLst>
                </a:gridCol>
              </a:tblGrid>
              <a:tr h="0">
                <a:tc>
                  <a:txBody>
                    <a:bodyPr/>
                    <a:lstStyle/>
                    <a:p>
                      <a:pPr marL="0" marR="0">
                        <a:lnSpc>
                          <a:spcPct val="107000"/>
                        </a:lnSpc>
                        <a:spcBef>
                          <a:spcPts val="600"/>
                        </a:spcBef>
                        <a:spcAft>
                          <a:spcPts val="0"/>
                        </a:spcAft>
                      </a:pPr>
                      <a:r>
                        <a:rPr lang="en-US" sz="2400">
                          <a:effectLst/>
                        </a:rPr>
                        <a:t>Criteria</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0"/>
                        </a:spcAft>
                      </a:pPr>
                      <a:r>
                        <a:rPr lang="en-US" sz="2400">
                          <a:effectLst/>
                        </a:rPr>
                        <a:t>Total</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39201096"/>
                  </a:ext>
                </a:extLst>
              </a:tr>
              <a:tr h="0">
                <a:tc>
                  <a:txBody>
                    <a:bodyPr/>
                    <a:lstStyle/>
                    <a:p>
                      <a:pPr marL="0" marR="0">
                        <a:lnSpc>
                          <a:spcPct val="107000"/>
                        </a:lnSpc>
                        <a:spcBef>
                          <a:spcPts val="60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Include problem statement slide from previous deliverable</a:t>
                      </a:r>
                    </a:p>
                  </a:txBody>
                  <a:tcPr marL="68580" marR="68580" marT="0" marB="0"/>
                </a:tc>
                <a:tc>
                  <a:txBody>
                    <a:bodyPr/>
                    <a:lstStyle/>
                    <a:p>
                      <a:pPr marL="0" marR="0" algn="r">
                        <a:lnSpc>
                          <a:spcPct val="107000"/>
                        </a:lnSpc>
                        <a:spcBef>
                          <a:spcPts val="60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tc>
                <a:extLst>
                  <a:ext uri="{0D108BD9-81ED-4DB2-BD59-A6C34878D82A}">
                    <a16:rowId xmlns:a16="http://schemas.microsoft.com/office/drawing/2014/main" val="663121800"/>
                  </a:ext>
                </a:extLst>
              </a:tr>
              <a:tr h="0">
                <a:tc>
                  <a:txBody>
                    <a:bodyPr/>
                    <a:lstStyle/>
                    <a:p>
                      <a:pPr marL="0" marR="0">
                        <a:lnSpc>
                          <a:spcPct val="107000"/>
                        </a:lnSpc>
                        <a:spcBef>
                          <a:spcPts val="60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Include recommended solution slide from previous deliverable</a:t>
                      </a:r>
                    </a:p>
                  </a:txBody>
                  <a:tcPr marL="68580" marR="68580" marT="0" marB="0"/>
                </a:tc>
                <a:tc>
                  <a:txBody>
                    <a:bodyPr/>
                    <a:lstStyle/>
                    <a:p>
                      <a:pPr marL="0" marR="0" algn="r">
                        <a:lnSpc>
                          <a:spcPct val="107000"/>
                        </a:lnSpc>
                        <a:spcBef>
                          <a:spcPts val="60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tc>
                <a:extLst>
                  <a:ext uri="{0D108BD9-81ED-4DB2-BD59-A6C34878D82A}">
                    <a16:rowId xmlns:a16="http://schemas.microsoft.com/office/drawing/2014/main" val="4215435415"/>
                  </a:ext>
                </a:extLst>
              </a:tr>
              <a:tr h="0">
                <a:tc>
                  <a:txBody>
                    <a:bodyPr/>
                    <a:lstStyle/>
                    <a:p>
                      <a:pPr marL="0" marR="0">
                        <a:lnSpc>
                          <a:spcPct val="107000"/>
                        </a:lnSpc>
                        <a:spcBef>
                          <a:spcPts val="600"/>
                        </a:spcBef>
                        <a:spcAft>
                          <a:spcPts val="0"/>
                        </a:spcAft>
                      </a:pPr>
                      <a:r>
                        <a:rPr lang="en-US" sz="2400" dirty="0">
                          <a:effectLst/>
                        </a:rPr>
                        <a:t>Implementation flow diagram (Malware, BYOD, Encryption)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7000"/>
                        </a:lnSpc>
                        <a:spcBef>
                          <a:spcPts val="600"/>
                        </a:spcBef>
                        <a:spcAft>
                          <a:spcPts val="0"/>
                        </a:spcAft>
                      </a:pPr>
                      <a:r>
                        <a:rPr lang="en-US" sz="2400" dirty="0">
                          <a:effectLst/>
                        </a:rPr>
                        <a:t>15</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94980134"/>
                  </a:ext>
                </a:extLst>
              </a:tr>
              <a:tr h="0">
                <a:tc>
                  <a:txBody>
                    <a:bodyPr/>
                    <a:lstStyle/>
                    <a:p>
                      <a:pPr marL="0" marR="0">
                        <a:lnSpc>
                          <a:spcPct val="107000"/>
                        </a:lnSpc>
                        <a:spcBef>
                          <a:spcPts val="60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Cost-benefit analysis (CBA)</a:t>
                      </a:r>
                    </a:p>
                  </a:txBody>
                  <a:tcPr marL="68580" marR="68580" marT="0" marB="0"/>
                </a:tc>
                <a:tc>
                  <a:txBody>
                    <a:bodyPr/>
                    <a:lstStyle/>
                    <a:p>
                      <a:pPr marL="0" marR="0" algn="r">
                        <a:lnSpc>
                          <a:spcPct val="107000"/>
                        </a:lnSpc>
                        <a:spcBef>
                          <a:spcPts val="60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tc>
                <a:extLst>
                  <a:ext uri="{0D108BD9-81ED-4DB2-BD59-A6C34878D82A}">
                    <a16:rowId xmlns:a16="http://schemas.microsoft.com/office/drawing/2014/main" val="2583780168"/>
                  </a:ext>
                </a:extLst>
              </a:tr>
              <a:tr h="0">
                <a:tc>
                  <a:txBody>
                    <a:bodyPr/>
                    <a:lstStyle/>
                    <a:p>
                      <a:pPr marL="0" marR="0">
                        <a:lnSpc>
                          <a:spcPct val="107000"/>
                        </a:lnSpc>
                        <a:spcBef>
                          <a:spcPts val="600"/>
                        </a:spcBef>
                        <a:spcAft>
                          <a:spcPts val="0"/>
                        </a:spcAft>
                      </a:pPr>
                      <a:r>
                        <a:rPr lang="en-US" sz="2400" dirty="0">
                          <a:effectLst/>
                        </a:rPr>
                        <a:t>Solution validation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7000"/>
                        </a:lnSpc>
                        <a:spcBef>
                          <a:spcPts val="600"/>
                        </a:spcBef>
                        <a:spcAft>
                          <a:spcPts val="0"/>
                        </a:spcAft>
                      </a:pPr>
                      <a:r>
                        <a:rPr lang="en-US" sz="2400" dirty="0">
                          <a:effectLst/>
                        </a:rPr>
                        <a:t>15</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31690798"/>
                  </a:ext>
                </a:extLst>
              </a:tr>
              <a:tr h="0">
                <a:tc>
                  <a:txBody>
                    <a:bodyPr/>
                    <a:lstStyle/>
                    <a:p>
                      <a:pPr marL="0" marR="0">
                        <a:lnSpc>
                          <a:spcPct val="107000"/>
                        </a:lnSpc>
                        <a:spcBef>
                          <a:spcPts val="600"/>
                        </a:spcBef>
                        <a:spcAft>
                          <a:spcPts val="0"/>
                        </a:spcAft>
                      </a:pPr>
                      <a:r>
                        <a:rPr lang="en-US" sz="2400" dirty="0">
                          <a:effectLst/>
                        </a:rPr>
                        <a:t>Solution evaluation and continuous improvement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7000"/>
                        </a:lnSpc>
                        <a:spcBef>
                          <a:spcPts val="600"/>
                        </a:spcBef>
                        <a:spcAft>
                          <a:spcPts val="0"/>
                        </a:spcAft>
                      </a:pPr>
                      <a:r>
                        <a:rPr lang="en-US" sz="2400" dirty="0">
                          <a:effectLst/>
                        </a:rPr>
                        <a:t>15</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53162033"/>
                  </a:ext>
                </a:extLst>
              </a:tr>
              <a:tr h="0">
                <a:tc>
                  <a:txBody>
                    <a:bodyPr/>
                    <a:lstStyle/>
                    <a:p>
                      <a:pPr marL="0" marR="0">
                        <a:lnSpc>
                          <a:spcPct val="107000"/>
                        </a:lnSpc>
                        <a:spcBef>
                          <a:spcPts val="60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Decommission</a:t>
                      </a:r>
                    </a:p>
                  </a:txBody>
                  <a:tcPr marL="68580" marR="68580" marT="0" marB="0"/>
                </a:tc>
                <a:tc>
                  <a:txBody>
                    <a:bodyPr/>
                    <a:lstStyle/>
                    <a:p>
                      <a:pPr marL="0" marR="0" algn="r">
                        <a:lnSpc>
                          <a:spcPct val="107000"/>
                        </a:lnSpc>
                        <a:spcBef>
                          <a:spcPts val="60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tc>
                <a:extLst>
                  <a:ext uri="{0D108BD9-81ED-4DB2-BD59-A6C34878D82A}">
                    <a16:rowId xmlns:a16="http://schemas.microsoft.com/office/drawing/2014/main" val="3207978512"/>
                  </a:ext>
                </a:extLst>
              </a:tr>
              <a:tr h="0">
                <a:tc>
                  <a:txBody>
                    <a:bodyPr/>
                    <a:lstStyle/>
                    <a:p>
                      <a:pPr marL="0" marR="0">
                        <a:lnSpc>
                          <a:spcPct val="107000"/>
                        </a:lnSpc>
                        <a:spcBef>
                          <a:spcPts val="600"/>
                        </a:spcBef>
                        <a:spcAft>
                          <a:spcPts val="0"/>
                        </a:spcAft>
                      </a:pPr>
                      <a:r>
                        <a:rPr lang="en-US" sz="2400" dirty="0">
                          <a:effectLst/>
                        </a:rPr>
                        <a:t>Legal, ethical and cultural considerations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7000"/>
                        </a:lnSpc>
                        <a:spcBef>
                          <a:spcPts val="600"/>
                        </a:spcBef>
                        <a:spcAft>
                          <a:spcPts val="0"/>
                        </a:spcAft>
                      </a:pPr>
                      <a:r>
                        <a:rPr lang="en-US" sz="2400" dirty="0">
                          <a:effectLst/>
                        </a:rPr>
                        <a:t>15</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09193268"/>
                  </a:ext>
                </a:extLst>
              </a:tr>
              <a:tr h="0">
                <a:tc>
                  <a:txBody>
                    <a:bodyPr/>
                    <a:lstStyle/>
                    <a:p>
                      <a:pPr marL="0" marR="0">
                        <a:lnSpc>
                          <a:spcPct val="107000"/>
                        </a:lnSpc>
                        <a:spcBef>
                          <a:spcPts val="600"/>
                        </a:spcBef>
                        <a:spcAft>
                          <a:spcPts val="0"/>
                        </a:spcAft>
                      </a:pPr>
                      <a:r>
                        <a:rPr lang="en-US" sz="2400" dirty="0">
                          <a:effectLst/>
                        </a:rPr>
                        <a:t>Total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7000"/>
                        </a:lnSpc>
                        <a:spcBef>
                          <a:spcPts val="600"/>
                        </a:spcBef>
                        <a:spcAft>
                          <a:spcPts val="0"/>
                        </a:spcAft>
                      </a:pPr>
                      <a:r>
                        <a:rPr lang="en-US" sz="2400" dirty="0">
                          <a:effectLst/>
                        </a:rPr>
                        <a:t>100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32233048"/>
                  </a:ext>
                </a:extLst>
              </a:tr>
            </a:tbl>
          </a:graphicData>
        </a:graphic>
      </p:graphicFrame>
    </p:spTree>
    <p:extLst>
      <p:ext uri="{BB962C8B-B14F-4D97-AF65-F5344CB8AC3E}">
        <p14:creationId xmlns:p14="http://schemas.microsoft.com/office/powerpoint/2010/main" val="2030282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64AE3-20AC-4518-A24F-184364E8F222}"/>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7EF6F71F-5E18-4A78-A36D-233059D0548A}"/>
              </a:ext>
            </a:extLst>
          </p:cNvPr>
          <p:cNvSpPr>
            <a:spLocks noGrp="1"/>
          </p:cNvSpPr>
          <p:nvPr>
            <p:ph idx="1"/>
          </p:nvPr>
        </p:nvSpPr>
        <p:spPr/>
        <p:txBody>
          <a:bodyPr>
            <a:normAutofit/>
          </a:bodyPr>
          <a:lstStyle/>
          <a:p>
            <a:pPr>
              <a:lnSpc>
                <a:spcPct val="200000"/>
              </a:lnSpc>
            </a:pPr>
            <a:r>
              <a:rPr lang="en-US" sz="2000" dirty="0">
                <a:solidFill>
                  <a:srgbClr val="000000"/>
                </a:solidFill>
                <a:effectLst/>
                <a:latin typeface="+mj-lt"/>
                <a:ea typeface="Times New Roman" panose="02020603050405020304" pitchFamily="18" charset="0"/>
                <a:cs typeface="Arial" panose="020B0604020202020204" pitchFamily="34" charset="0"/>
              </a:rPr>
              <a:t>Threat Protection Software outdated</a:t>
            </a:r>
          </a:p>
          <a:p>
            <a:pPr>
              <a:lnSpc>
                <a:spcPct val="200000"/>
              </a:lnSpc>
            </a:pPr>
            <a:r>
              <a:rPr lang="en-US" sz="2000" dirty="0">
                <a:solidFill>
                  <a:srgbClr val="000000"/>
                </a:solidFill>
                <a:effectLst/>
                <a:latin typeface="+mj-lt"/>
                <a:ea typeface="Times New Roman" panose="02020603050405020304" pitchFamily="18" charset="0"/>
                <a:cs typeface="Arial" panose="020B0604020202020204" pitchFamily="34" charset="0"/>
              </a:rPr>
              <a:t>Managing project complexity files</a:t>
            </a:r>
          </a:p>
          <a:p>
            <a:pPr>
              <a:lnSpc>
                <a:spcPct val="200000"/>
              </a:lnSpc>
            </a:pPr>
            <a:r>
              <a:rPr lang="en-US" sz="2000" dirty="0">
                <a:solidFill>
                  <a:srgbClr val="000000"/>
                </a:solidFill>
                <a:effectLst/>
                <a:latin typeface="+mj-lt"/>
                <a:ea typeface="Times New Roman" panose="02020603050405020304" pitchFamily="18" charset="0"/>
                <a:cs typeface="Arial" panose="020B0604020202020204" pitchFamily="34" charset="0"/>
              </a:rPr>
              <a:t>Employee Verification to access building</a:t>
            </a:r>
          </a:p>
          <a:p>
            <a:pPr>
              <a:lnSpc>
                <a:spcPct val="200000"/>
              </a:lnSpc>
            </a:pPr>
            <a:r>
              <a:rPr lang="en-US" sz="2000" dirty="0">
                <a:solidFill>
                  <a:srgbClr val="000000"/>
                </a:solidFill>
                <a:effectLst/>
                <a:latin typeface="+mj-lt"/>
                <a:ea typeface="Times New Roman" panose="02020603050405020304" pitchFamily="18" charset="0"/>
                <a:cs typeface="Arial" panose="020B0604020202020204" pitchFamily="34" charset="0"/>
              </a:rPr>
              <a:t>DDoS &amp; </a:t>
            </a:r>
            <a:r>
              <a:rPr lang="en-US" sz="2000" dirty="0">
                <a:solidFill>
                  <a:srgbClr val="000000"/>
                </a:solidFill>
                <a:latin typeface="+mj-lt"/>
                <a:ea typeface="Times New Roman" panose="02020603050405020304" pitchFamily="18" charset="0"/>
                <a:cs typeface="Arial" panose="020B0604020202020204" pitchFamily="34" charset="0"/>
              </a:rPr>
              <a:t>M</a:t>
            </a:r>
            <a:r>
              <a:rPr lang="en-US" sz="2000" dirty="0">
                <a:solidFill>
                  <a:srgbClr val="000000"/>
                </a:solidFill>
                <a:effectLst/>
                <a:latin typeface="+mj-lt"/>
                <a:ea typeface="Times New Roman" panose="02020603050405020304" pitchFamily="18" charset="0"/>
                <a:cs typeface="Arial" panose="020B0604020202020204" pitchFamily="34" charset="0"/>
              </a:rPr>
              <a:t>alware </a:t>
            </a:r>
            <a:r>
              <a:rPr lang="en-US" sz="2000" dirty="0">
                <a:solidFill>
                  <a:srgbClr val="000000"/>
                </a:solidFill>
                <a:latin typeface="+mj-lt"/>
                <a:ea typeface="Times New Roman" panose="02020603050405020304" pitchFamily="18" charset="0"/>
                <a:cs typeface="Arial" panose="020B0604020202020204" pitchFamily="34" charset="0"/>
              </a:rPr>
              <a:t>A</a:t>
            </a:r>
            <a:r>
              <a:rPr lang="en-US" sz="2000" dirty="0">
                <a:solidFill>
                  <a:srgbClr val="000000"/>
                </a:solidFill>
                <a:effectLst/>
                <a:latin typeface="+mj-lt"/>
                <a:ea typeface="Times New Roman" panose="02020603050405020304" pitchFamily="18" charset="0"/>
                <a:cs typeface="Arial" panose="020B0604020202020204" pitchFamily="34" charset="0"/>
              </a:rPr>
              <a:t>ttacks </a:t>
            </a:r>
          </a:p>
          <a:p>
            <a:pPr>
              <a:lnSpc>
                <a:spcPct val="200000"/>
              </a:lnSpc>
            </a:pPr>
            <a:r>
              <a:rPr lang="en-US" sz="2000" dirty="0">
                <a:solidFill>
                  <a:srgbClr val="000000"/>
                </a:solidFill>
                <a:effectLst/>
                <a:latin typeface="+mj-lt"/>
                <a:ea typeface="Times New Roman" panose="02020603050405020304" pitchFamily="18" charset="0"/>
                <a:cs typeface="Arial" panose="020B0604020202020204" pitchFamily="34" charset="0"/>
              </a:rPr>
              <a:t>No physical deterrents to access Communication Room</a:t>
            </a:r>
            <a:endParaRPr lang="en-US" sz="2000" dirty="0">
              <a:solidFill>
                <a:srgbClr val="000000"/>
              </a:solidFill>
              <a:effectLst/>
              <a:latin typeface="+mj-lt"/>
              <a:ea typeface="SimSun" panose="02010600030101010101" pitchFamily="2" charset="-122"/>
              <a:cs typeface="Arial" panose="020B0604020202020204" pitchFamily="34" charset="0"/>
            </a:endParaRPr>
          </a:p>
          <a:p>
            <a:endParaRPr lang="en-US" dirty="0">
              <a:latin typeface="+mj-lt"/>
            </a:endParaRPr>
          </a:p>
        </p:txBody>
      </p:sp>
    </p:spTree>
    <p:extLst>
      <p:ext uri="{BB962C8B-B14F-4D97-AF65-F5344CB8AC3E}">
        <p14:creationId xmlns:p14="http://schemas.microsoft.com/office/powerpoint/2010/main" val="3085141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D8634-5079-4E93-8FBB-81A952148E80}"/>
              </a:ext>
            </a:extLst>
          </p:cNvPr>
          <p:cNvSpPr>
            <a:spLocks noGrp="1"/>
          </p:cNvSpPr>
          <p:nvPr>
            <p:ph type="title"/>
          </p:nvPr>
        </p:nvSpPr>
        <p:spPr/>
        <p:txBody>
          <a:bodyPr/>
          <a:lstStyle/>
          <a:p>
            <a:r>
              <a:rPr lang="en-US" dirty="0"/>
              <a:t>Alternative Security Controls</a:t>
            </a:r>
          </a:p>
        </p:txBody>
      </p:sp>
      <p:sp>
        <p:nvSpPr>
          <p:cNvPr id="3" name="Content Placeholder 2">
            <a:extLst>
              <a:ext uri="{FF2B5EF4-FFF2-40B4-BE49-F238E27FC236}">
                <a16:creationId xmlns:a16="http://schemas.microsoft.com/office/drawing/2014/main" id="{12708BB7-2539-4FD3-9DB3-428EE20936AB}"/>
              </a:ext>
            </a:extLst>
          </p:cNvPr>
          <p:cNvSpPr>
            <a:spLocks noGrp="1"/>
          </p:cNvSpPr>
          <p:nvPr>
            <p:ph idx="1"/>
          </p:nvPr>
        </p:nvSpPr>
        <p:spPr/>
        <p:txBody>
          <a:bodyPr/>
          <a:lstStyle/>
          <a:p>
            <a:r>
              <a:rPr lang="en-US" dirty="0"/>
              <a:t>Incident Response – Corrective</a:t>
            </a:r>
          </a:p>
          <a:p>
            <a:r>
              <a:rPr lang="en-US" dirty="0"/>
              <a:t>Detective – Auditing</a:t>
            </a:r>
          </a:p>
          <a:p>
            <a:r>
              <a:rPr lang="en-US" dirty="0"/>
              <a:t>Technical Controls – Facial Recognition</a:t>
            </a:r>
          </a:p>
          <a:p>
            <a:r>
              <a:rPr lang="en-US" dirty="0"/>
              <a:t> Fingerprint Scanner</a:t>
            </a:r>
          </a:p>
          <a:p>
            <a:r>
              <a:rPr lang="en-US" dirty="0"/>
              <a:t>Physical Control – CCTV Locks </a:t>
            </a:r>
          </a:p>
          <a:p>
            <a:r>
              <a:rPr lang="en-US" dirty="0"/>
              <a:t>Biometric Recognition</a:t>
            </a:r>
          </a:p>
          <a:p>
            <a:endParaRPr lang="en-US" dirty="0"/>
          </a:p>
        </p:txBody>
      </p:sp>
    </p:spTree>
    <p:extLst>
      <p:ext uri="{BB962C8B-B14F-4D97-AF65-F5344CB8AC3E}">
        <p14:creationId xmlns:p14="http://schemas.microsoft.com/office/powerpoint/2010/main" val="1983238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a:extLst>
              <a:ext uri="{FF2B5EF4-FFF2-40B4-BE49-F238E27FC236}">
                <a16:creationId xmlns:a16="http://schemas.microsoft.com/office/drawing/2014/main" id="{0727C9E1-DD9C-D302-EEFF-66432CA43421}"/>
              </a:ext>
            </a:extLst>
          </p:cNvPr>
          <p:cNvSpPr/>
          <p:nvPr/>
        </p:nvSpPr>
        <p:spPr>
          <a:xfrm>
            <a:off x="5452216" y="0"/>
            <a:ext cx="1851212" cy="1515698"/>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a:t>
            </a:r>
          </a:p>
          <a:p>
            <a:pPr algn="ctr"/>
            <a:r>
              <a:rPr lang="en-US" dirty="0"/>
              <a:t>Room</a:t>
            </a:r>
          </a:p>
          <a:p>
            <a:pPr algn="ctr"/>
            <a:r>
              <a:rPr lang="en-US" dirty="0"/>
              <a:t>Locked Door</a:t>
            </a:r>
          </a:p>
          <a:p>
            <a:pPr algn="ctr"/>
            <a:r>
              <a:rPr lang="en-US" dirty="0"/>
              <a:t>Facial Recognition</a:t>
            </a:r>
          </a:p>
          <a:p>
            <a:pPr algn="ctr"/>
            <a:endParaRPr lang="en-US" dirty="0"/>
          </a:p>
        </p:txBody>
      </p:sp>
      <p:sp>
        <p:nvSpPr>
          <p:cNvPr id="5" name="Rectangle: Rounded Corners 4">
            <a:extLst>
              <a:ext uri="{FF2B5EF4-FFF2-40B4-BE49-F238E27FC236}">
                <a16:creationId xmlns:a16="http://schemas.microsoft.com/office/drawing/2014/main" id="{0B3573FD-88E8-DBB1-767E-C1EEE91DBE7F}"/>
              </a:ext>
            </a:extLst>
          </p:cNvPr>
          <p:cNvSpPr/>
          <p:nvPr/>
        </p:nvSpPr>
        <p:spPr>
          <a:xfrm>
            <a:off x="838200" y="2931208"/>
            <a:ext cx="1384419" cy="6067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Employee</a:t>
            </a:r>
          </a:p>
          <a:p>
            <a:pPr algn="ctr"/>
            <a:r>
              <a:rPr lang="en-US" dirty="0"/>
              <a:t>Entrance</a:t>
            </a:r>
          </a:p>
        </p:txBody>
      </p:sp>
      <p:sp>
        <p:nvSpPr>
          <p:cNvPr id="6" name="Arrow: Right 5">
            <a:extLst>
              <a:ext uri="{FF2B5EF4-FFF2-40B4-BE49-F238E27FC236}">
                <a16:creationId xmlns:a16="http://schemas.microsoft.com/office/drawing/2014/main" id="{B830F952-38EE-6778-F3A1-625022DC3EE2}"/>
              </a:ext>
            </a:extLst>
          </p:cNvPr>
          <p:cNvSpPr/>
          <p:nvPr/>
        </p:nvSpPr>
        <p:spPr>
          <a:xfrm>
            <a:off x="2222619" y="3234583"/>
            <a:ext cx="358211"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6E02BB2A-1E33-E87D-4573-9F7C36DEF8D4}"/>
              </a:ext>
            </a:extLst>
          </p:cNvPr>
          <p:cNvSpPr/>
          <p:nvPr/>
        </p:nvSpPr>
        <p:spPr>
          <a:xfrm>
            <a:off x="2502060" y="3048955"/>
            <a:ext cx="1307503" cy="606751"/>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CCTV#2</a:t>
            </a:r>
          </a:p>
        </p:txBody>
      </p:sp>
      <p:sp>
        <p:nvSpPr>
          <p:cNvPr id="8" name="Content Placeholder 7">
            <a:extLst>
              <a:ext uri="{FF2B5EF4-FFF2-40B4-BE49-F238E27FC236}">
                <a16:creationId xmlns:a16="http://schemas.microsoft.com/office/drawing/2014/main" id="{909E3F62-648E-2A46-8E9C-47D024979D85}"/>
              </a:ext>
            </a:extLst>
          </p:cNvPr>
          <p:cNvSpPr>
            <a:spLocks noGrp="1"/>
          </p:cNvSpPr>
          <p:nvPr>
            <p:ph idx="1"/>
          </p:nvPr>
        </p:nvSpPr>
        <p:spPr>
          <a:xfrm>
            <a:off x="2743388" y="1768980"/>
            <a:ext cx="1870816" cy="794759"/>
          </a:xfrm>
          <a:prstGeom prst="parallelogram">
            <a:avLst>
              <a:gd name="adj" fmla="val 4954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en-US" dirty="0"/>
              <a:t>CCTV#1</a:t>
            </a:r>
          </a:p>
        </p:txBody>
      </p:sp>
      <p:sp>
        <p:nvSpPr>
          <p:cNvPr id="9" name="Content Placeholder 7">
            <a:extLst>
              <a:ext uri="{FF2B5EF4-FFF2-40B4-BE49-F238E27FC236}">
                <a16:creationId xmlns:a16="http://schemas.microsoft.com/office/drawing/2014/main" id="{4C9B7DE7-CF0A-328D-A56E-276257A03226}"/>
              </a:ext>
            </a:extLst>
          </p:cNvPr>
          <p:cNvSpPr>
            <a:spLocks noGrp="1"/>
          </p:cNvSpPr>
          <p:nvPr>
            <p:ph type="title"/>
          </p:nvPr>
        </p:nvSpPr>
        <p:spPr>
          <a:xfrm>
            <a:off x="3722404" y="883950"/>
            <a:ext cx="1599132" cy="721898"/>
          </a:xfrm>
          <a:prstGeom prst="parallelogram">
            <a:avLst>
              <a:gd name="adj" fmla="val 4954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1800" dirty="0"/>
              <a:t>CCTV#4</a:t>
            </a:r>
          </a:p>
        </p:txBody>
      </p:sp>
      <p:sp>
        <p:nvSpPr>
          <p:cNvPr id="10" name="Parallelogram 9">
            <a:extLst>
              <a:ext uri="{FF2B5EF4-FFF2-40B4-BE49-F238E27FC236}">
                <a16:creationId xmlns:a16="http://schemas.microsoft.com/office/drawing/2014/main" id="{6F01182D-1670-4A8E-8308-96406B6AA679}"/>
              </a:ext>
            </a:extLst>
          </p:cNvPr>
          <p:cNvSpPr/>
          <p:nvPr/>
        </p:nvSpPr>
        <p:spPr>
          <a:xfrm>
            <a:off x="2709017" y="4025069"/>
            <a:ext cx="1410056" cy="794759"/>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CCTV#3</a:t>
            </a:r>
          </a:p>
        </p:txBody>
      </p:sp>
      <p:cxnSp>
        <p:nvCxnSpPr>
          <p:cNvPr id="12" name="Straight Connector 11">
            <a:extLst>
              <a:ext uri="{FF2B5EF4-FFF2-40B4-BE49-F238E27FC236}">
                <a16:creationId xmlns:a16="http://schemas.microsoft.com/office/drawing/2014/main" id="{84B48BFB-FA1F-93C1-CB71-D8119BC0EA1E}"/>
              </a:ext>
            </a:extLst>
          </p:cNvPr>
          <p:cNvCxnSpPr/>
          <p:nvPr/>
        </p:nvCxnSpPr>
        <p:spPr>
          <a:xfrm>
            <a:off x="5452217" y="401652"/>
            <a:ext cx="0" cy="47600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A747CF1-45D6-198B-499B-47402E321822}"/>
              </a:ext>
            </a:extLst>
          </p:cNvPr>
          <p:cNvCxnSpPr/>
          <p:nvPr/>
        </p:nvCxnSpPr>
        <p:spPr>
          <a:xfrm>
            <a:off x="8817836" y="551204"/>
            <a:ext cx="0" cy="4760008"/>
          </a:xfrm>
          <a:prstGeom prst="line">
            <a:avLst/>
          </a:prstGeom>
        </p:spPr>
        <p:style>
          <a:lnRef idx="1">
            <a:schemeClr val="accent1"/>
          </a:lnRef>
          <a:fillRef idx="0">
            <a:schemeClr val="accent1"/>
          </a:fillRef>
          <a:effectRef idx="0">
            <a:schemeClr val="accent1"/>
          </a:effectRef>
          <a:fontRef idx="minor">
            <a:schemeClr val="tx1"/>
          </a:fontRef>
        </p:style>
      </p:cxnSp>
      <p:sp>
        <p:nvSpPr>
          <p:cNvPr id="14" name="Parallelogram 13">
            <a:extLst>
              <a:ext uri="{FF2B5EF4-FFF2-40B4-BE49-F238E27FC236}">
                <a16:creationId xmlns:a16="http://schemas.microsoft.com/office/drawing/2014/main" id="{3D593955-2C97-08CB-566E-C724CA43C4A3}"/>
              </a:ext>
            </a:extLst>
          </p:cNvPr>
          <p:cNvSpPr/>
          <p:nvPr/>
        </p:nvSpPr>
        <p:spPr>
          <a:xfrm>
            <a:off x="7124470" y="5016209"/>
            <a:ext cx="1305005" cy="649480"/>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CCTV#5</a:t>
            </a:r>
          </a:p>
        </p:txBody>
      </p:sp>
      <p:sp>
        <p:nvSpPr>
          <p:cNvPr id="15" name="Rectangle: Rounded Corners 14">
            <a:extLst>
              <a:ext uri="{FF2B5EF4-FFF2-40B4-BE49-F238E27FC236}">
                <a16:creationId xmlns:a16="http://schemas.microsoft.com/office/drawing/2014/main" id="{0E04B6B7-67BD-81A2-FCE2-524D401741D4}"/>
              </a:ext>
            </a:extLst>
          </p:cNvPr>
          <p:cNvSpPr/>
          <p:nvPr/>
        </p:nvSpPr>
        <p:spPr>
          <a:xfrm>
            <a:off x="5430326" y="1811932"/>
            <a:ext cx="1610355" cy="7340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Switch</a:t>
            </a:r>
          </a:p>
          <a:p>
            <a:pPr algn="ctr"/>
            <a:r>
              <a:rPr lang="en-US" dirty="0"/>
              <a:t>Segmentation</a:t>
            </a:r>
          </a:p>
        </p:txBody>
      </p:sp>
      <p:sp>
        <p:nvSpPr>
          <p:cNvPr id="16" name="Parallelogram 15">
            <a:extLst>
              <a:ext uri="{FF2B5EF4-FFF2-40B4-BE49-F238E27FC236}">
                <a16:creationId xmlns:a16="http://schemas.microsoft.com/office/drawing/2014/main" id="{F525A4F6-DAFA-C42A-01D6-F00975E78881}"/>
              </a:ext>
            </a:extLst>
          </p:cNvPr>
          <p:cNvSpPr/>
          <p:nvPr/>
        </p:nvSpPr>
        <p:spPr>
          <a:xfrm>
            <a:off x="5458932" y="2774172"/>
            <a:ext cx="1156878" cy="649480"/>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Router</a:t>
            </a:r>
          </a:p>
        </p:txBody>
      </p:sp>
      <p:sp>
        <p:nvSpPr>
          <p:cNvPr id="17" name="Parallelogram 16">
            <a:extLst>
              <a:ext uri="{FF2B5EF4-FFF2-40B4-BE49-F238E27FC236}">
                <a16:creationId xmlns:a16="http://schemas.microsoft.com/office/drawing/2014/main" id="{5DFFFDFF-3BF0-5801-FD9D-DC060149BF3C}"/>
              </a:ext>
            </a:extLst>
          </p:cNvPr>
          <p:cNvSpPr/>
          <p:nvPr/>
        </p:nvSpPr>
        <p:spPr>
          <a:xfrm>
            <a:off x="7225011" y="1479709"/>
            <a:ext cx="1610356" cy="596069"/>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Honeypot</a:t>
            </a:r>
          </a:p>
        </p:txBody>
      </p:sp>
      <p:sp>
        <p:nvSpPr>
          <p:cNvPr id="18" name="Arc 17">
            <a:extLst>
              <a:ext uri="{FF2B5EF4-FFF2-40B4-BE49-F238E27FC236}">
                <a16:creationId xmlns:a16="http://schemas.microsoft.com/office/drawing/2014/main" id="{E6DA107F-ED03-6CAB-D67F-6258BDA8200A}"/>
              </a:ext>
            </a:extLst>
          </p:cNvPr>
          <p:cNvSpPr/>
          <p:nvPr/>
        </p:nvSpPr>
        <p:spPr>
          <a:xfrm>
            <a:off x="3598847" y="1902083"/>
            <a:ext cx="1870813" cy="1268407"/>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Arc 18">
            <a:extLst>
              <a:ext uri="{FF2B5EF4-FFF2-40B4-BE49-F238E27FC236}">
                <a16:creationId xmlns:a16="http://schemas.microsoft.com/office/drawing/2014/main" id="{18FF6E28-652B-A476-5998-4F51B194B261}"/>
              </a:ext>
            </a:extLst>
          </p:cNvPr>
          <p:cNvSpPr/>
          <p:nvPr/>
        </p:nvSpPr>
        <p:spPr>
          <a:xfrm rot="488085">
            <a:off x="3568234" y="1435693"/>
            <a:ext cx="1977985" cy="1759793"/>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Arc 19">
            <a:extLst>
              <a:ext uri="{FF2B5EF4-FFF2-40B4-BE49-F238E27FC236}">
                <a16:creationId xmlns:a16="http://schemas.microsoft.com/office/drawing/2014/main" id="{CB279865-D17E-AE89-5DD6-57BEB749B478}"/>
              </a:ext>
            </a:extLst>
          </p:cNvPr>
          <p:cNvSpPr/>
          <p:nvPr/>
        </p:nvSpPr>
        <p:spPr>
          <a:xfrm rot="19967671">
            <a:off x="512748" y="3084502"/>
            <a:ext cx="5358212" cy="1196188"/>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Arc 20">
            <a:extLst>
              <a:ext uri="{FF2B5EF4-FFF2-40B4-BE49-F238E27FC236}">
                <a16:creationId xmlns:a16="http://schemas.microsoft.com/office/drawing/2014/main" id="{85C05E51-33AA-E460-562E-427B700216C7}"/>
              </a:ext>
            </a:extLst>
          </p:cNvPr>
          <p:cNvSpPr/>
          <p:nvPr/>
        </p:nvSpPr>
        <p:spPr>
          <a:xfrm rot="17648217">
            <a:off x="1356271" y="4077264"/>
            <a:ext cx="6006240" cy="2132074"/>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Oval 21">
            <a:extLst>
              <a:ext uri="{FF2B5EF4-FFF2-40B4-BE49-F238E27FC236}">
                <a16:creationId xmlns:a16="http://schemas.microsoft.com/office/drawing/2014/main" id="{37AA73C6-4790-BA02-5CA8-664D286C0B05}"/>
              </a:ext>
            </a:extLst>
          </p:cNvPr>
          <p:cNvSpPr/>
          <p:nvPr/>
        </p:nvSpPr>
        <p:spPr>
          <a:xfrm>
            <a:off x="6504058" y="3785926"/>
            <a:ext cx="1516882" cy="6728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Internet</a:t>
            </a:r>
          </a:p>
        </p:txBody>
      </p:sp>
      <p:sp>
        <p:nvSpPr>
          <p:cNvPr id="23" name="Flowchart: Process 22">
            <a:extLst>
              <a:ext uri="{FF2B5EF4-FFF2-40B4-BE49-F238E27FC236}">
                <a16:creationId xmlns:a16="http://schemas.microsoft.com/office/drawing/2014/main" id="{68E42A2F-2C2C-DDF5-5E62-582F7FFE102A}"/>
              </a:ext>
            </a:extLst>
          </p:cNvPr>
          <p:cNvSpPr/>
          <p:nvPr/>
        </p:nvSpPr>
        <p:spPr>
          <a:xfrm>
            <a:off x="6869019" y="2718353"/>
            <a:ext cx="1339581" cy="59606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DVR</a:t>
            </a:r>
          </a:p>
        </p:txBody>
      </p:sp>
      <p:cxnSp>
        <p:nvCxnSpPr>
          <p:cNvPr id="25" name="Straight Arrow Connector 24">
            <a:extLst>
              <a:ext uri="{FF2B5EF4-FFF2-40B4-BE49-F238E27FC236}">
                <a16:creationId xmlns:a16="http://schemas.microsoft.com/office/drawing/2014/main" id="{9D36DA4E-CCCC-4C08-CBDD-D0B282DF70E6}"/>
              </a:ext>
            </a:extLst>
          </p:cNvPr>
          <p:cNvCxnSpPr>
            <a:endCxn id="8" idx="5"/>
          </p:cNvCxnSpPr>
          <p:nvPr/>
        </p:nvCxnSpPr>
        <p:spPr>
          <a:xfrm>
            <a:off x="2141081" y="2153611"/>
            <a:ext cx="799205" cy="127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Rectangle 25">
            <a:extLst>
              <a:ext uri="{FF2B5EF4-FFF2-40B4-BE49-F238E27FC236}">
                <a16:creationId xmlns:a16="http://schemas.microsoft.com/office/drawing/2014/main" id="{28906C67-D2A9-E67F-A1B1-504FC0DB851C}"/>
              </a:ext>
            </a:extLst>
          </p:cNvPr>
          <p:cNvSpPr/>
          <p:nvPr/>
        </p:nvSpPr>
        <p:spPr>
          <a:xfrm>
            <a:off x="9219808" y="3748916"/>
            <a:ext cx="1284287" cy="7340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Remote PC</a:t>
            </a:r>
          </a:p>
        </p:txBody>
      </p:sp>
      <p:sp>
        <p:nvSpPr>
          <p:cNvPr id="27" name="Rectangle: Rounded Corners 26">
            <a:extLst>
              <a:ext uri="{FF2B5EF4-FFF2-40B4-BE49-F238E27FC236}">
                <a16:creationId xmlns:a16="http://schemas.microsoft.com/office/drawing/2014/main" id="{BA9D1105-14C3-AECC-5133-3B97A64EE556}"/>
              </a:ext>
            </a:extLst>
          </p:cNvPr>
          <p:cNvSpPr/>
          <p:nvPr/>
        </p:nvSpPr>
        <p:spPr>
          <a:xfrm>
            <a:off x="747784" y="1902083"/>
            <a:ext cx="1384419" cy="6067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Highway#1</a:t>
            </a:r>
          </a:p>
        </p:txBody>
      </p:sp>
      <p:sp>
        <p:nvSpPr>
          <p:cNvPr id="28" name="Rectangle: Rounded Corners 27">
            <a:extLst>
              <a:ext uri="{FF2B5EF4-FFF2-40B4-BE49-F238E27FC236}">
                <a16:creationId xmlns:a16="http://schemas.microsoft.com/office/drawing/2014/main" id="{02A22498-3163-8719-0B7C-E48712A17E4A}"/>
              </a:ext>
            </a:extLst>
          </p:cNvPr>
          <p:cNvSpPr/>
          <p:nvPr/>
        </p:nvSpPr>
        <p:spPr>
          <a:xfrm>
            <a:off x="1027108" y="692209"/>
            <a:ext cx="1913178" cy="787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Highway#2</a:t>
            </a:r>
          </a:p>
        </p:txBody>
      </p:sp>
      <p:cxnSp>
        <p:nvCxnSpPr>
          <p:cNvPr id="30" name="Straight Arrow Connector 29">
            <a:extLst>
              <a:ext uri="{FF2B5EF4-FFF2-40B4-BE49-F238E27FC236}">
                <a16:creationId xmlns:a16="http://schemas.microsoft.com/office/drawing/2014/main" id="{AE17BD19-1C34-C7F8-9DCA-07A3AC0D7B1C}"/>
              </a:ext>
            </a:extLst>
          </p:cNvPr>
          <p:cNvCxnSpPr>
            <a:endCxn id="9" idx="5"/>
          </p:cNvCxnSpPr>
          <p:nvPr/>
        </p:nvCxnSpPr>
        <p:spPr>
          <a:xfrm>
            <a:off x="2940286" y="1201970"/>
            <a:ext cx="960965" cy="42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C14887D-4964-59A4-6665-14F7ACE2093C}"/>
              </a:ext>
            </a:extLst>
          </p:cNvPr>
          <p:cNvCxnSpPr>
            <a:endCxn id="10" idx="5"/>
          </p:cNvCxnSpPr>
          <p:nvPr/>
        </p:nvCxnSpPr>
        <p:spPr>
          <a:xfrm flipV="1">
            <a:off x="2016807" y="4422449"/>
            <a:ext cx="791555" cy="36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Rounded Corners 34">
            <a:extLst>
              <a:ext uri="{FF2B5EF4-FFF2-40B4-BE49-F238E27FC236}">
                <a16:creationId xmlns:a16="http://schemas.microsoft.com/office/drawing/2014/main" id="{1F0D6DD4-A205-6A29-754E-E47F4614F97B}"/>
              </a:ext>
            </a:extLst>
          </p:cNvPr>
          <p:cNvSpPr/>
          <p:nvPr/>
        </p:nvSpPr>
        <p:spPr>
          <a:xfrm>
            <a:off x="898736" y="4164792"/>
            <a:ext cx="1150309" cy="7654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Highway#3</a:t>
            </a:r>
          </a:p>
        </p:txBody>
      </p:sp>
      <p:cxnSp>
        <p:nvCxnSpPr>
          <p:cNvPr id="37" name="Connector: Elbow 36">
            <a:extLst>
              <a:ext uri="{FF2B5EF4-FFF2-40B4-BE49-F238E27FC236}">
                <a16:creationId xmlns:a16="http://schemas.microsoft.com/office/drawing/2014/main" id="{C03FA8E7-5363-B62C-10E5-1A88B5B29D48}"/>
              </a:ext>
            </a:extLst>
          </p:cNvPr>
          <p:cNvCxnSpPr>
            <a:cxnSpLocks/>
          </p:cNvCxnSpPr>
          <p:nvPr/>
        </p:nvCxnSpPr>
        <p:spPr>
          <a:xfrm>
            <a:off x="6621200" y="2533809"/>
            <a:ext cx="334730" cy="284781"/>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096E4FC3-B6AA-A529-E91B-9A1A51FDA070}"/>
              </a:ext>
            </a:extLst>
          </p:cNvPr>
          <p:cNvCxnSpPr/>
          <p:nvPr/>
        </p:nvCxnSpPr>
        <p:spPr>
          <a:xfrm flipV="1">
            <a:off x="7040681" y="1768980"/>
            <a:ext cx="498128" cy="282011"/>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54EB81B6-05C2-555B-0A9A-D4E36BBE494A}"/>
              </a:ext>
            </a:extLst>
          </p:cNvPr>
          <p:cNvCxnSpPr/>
          <p:nvPr/>
        </p:nvCxnSpPr>
        <p:spPr>
          <a:xfrm>
            <a:off x="6096000" y="2563739"/>
            <a:ext cx="0" cy="2179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F431F0BB-D5D2-BBAA-05FF-B7C0EFE1032F}"/>
              </a:ext>
            </a:extLst>
          </p:cNvPr>
          <p:cNvCxnSpPr/>
          <p:nvPr/>
        </p:nvCxnSpPr>
        <p:spPr>
          <a:xfrm>
            <a:off x="6259574" y="3352330"/>
            <a:ext cx="914400" cy="91440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F1A8F6D4-BBC2-B196-1C04-DAAF851A8297}"/>
              </a:ext>
            </a:extLst>
          </p:cNvPr>
          <p:cNvCxnSpPr>
            <a:stCxn id="23" idx="1"/>
            <a:endCxn id="16" idx="2"/>
          </p:cNvCxnSpPr>
          <p:nvPr/>
        </p:nvCxnSpPr>
        <p:spPr>
          <a:xfrm rot="10800000" flipV="1">
            <a:off x="6534625" y="3016388"/>
            <a:ext cx="334394" cy="82524"/>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9944DCB4-B36D-A27C-ECF5-533BD9A263BA}"/>
              </a:ext>
            </a:extLst>
          </p:cNvPr>
          <p:cNvCxnSpPr>
            <a:cxnSpLocks/>
          </p:cNvCxnSpPr>
          <p:nvPr/>
        </p:nvCxnSpPr>
        <p:spPr>
          <a:xfrm rot="5400000" flipH="1" flipV="1">
            <a:off x="6779565" y="3474339"/>
            <a:ext cx="3289958" cy="443263"/>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4EC89C06-F6EB-666C-B423-54F99D73FB15}"/>
              </a:ext>
            </a:extLst>
          </p:cNvPr>
          <p:cNvSpPr/>
          <p:nvPr/>
        </p:nvSpPr>
        <p:spPr>
          <a:xfrm>
            <a:off x="9219808" y="4601737"/>
            <a:ext cx="1268290" cy="7392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PC </a:t>
            </a:r>
            <a:r>
              <a:rPr lang="en-US" dirty="0" err="1"/>
              <a:t>Wifi</a:t>
            </a:r>
            <a:endParaRPr lang="en-US" dirty="0"/>
          </a:p>
        </p:txBody>
      </p:sp>
      <p:sp>
        <p:nvSpPr>
          <p:cNvPr id="67" name="Flowchart: Process 66">
            <a:extLst>
              <a:ext uri="{FF2B5EF4-FFF2-40B4-BE49-F238E27FC236}">
                <a16:creationId xmlns:a16="http://schemas.microsoft.com/office/drawing/2014/main" id="{62C13F21-6249-31AD-DCF4-80B64EF24464}"/>
              </a:ext>
            </a:extLst>
          </p:cNvPr>
          <p:cNvSpPr/>
          <p:nvPr/>
        </p:nvSpPr>
        <p:spPr>
          <a:xfrm>
            <a:off x="8817836" y="401652"/>
            <a:ext cx="3374164" cy="656183"/>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Office Fingerprint Biometric Access</a:t>
            </a:r>
          </a:p>
        </p:txBody>
      </p:sp>
      <p:sp>
        <p:nvSpPr>
          <p:cNvPr id="70" name="Arc 69">
            <a:extLst>
              <a:ext uri="{FF2B5EF4-FFF2-40B4-BE49-F238E27FC236}">
                <a16:creationId xmlns:a16="http://schemas.microsoft.com/office/drawing/2014/main" id="{F3F446C6-CA31-0795-AAF0-40793151AB60}"/>
              </a:ext>
            </a:extLst>
          </p:cNvPr>
          <p:cNvSpPr/>
          <p:nvPr/>
        </p:nvSpPr>
        <p:spPr>
          <a:xfrm>
            <a:off x="6955930" y="4110568"/>
            <a:ext cx="2527053" cy="2428151"/>
          </a:xfrm>
          <a:prstGeom prst="arc">
            <a:avLst>
              <a:gd name="adj1" fmla="val 15466198"/>
              <a:gd name="adj2" fmla="val 2136150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 name="Arc 70">
            <a:extLst>
              <a:ext uri="{FF2B5EF4-FFF2-40B4-BE49-F238E27FC236}">
                <a16:creationId xmlns:a16="http://schemas.microsoft.com/office/drawing/2014/main" id="{9867D2FA-7845-6462-6380-7A02EC8B5DB3}"/>
              </a:ext>
            </a:extLst>
          </p:cNvPr>
          <p:cNvSpPr/>
          <p:nvPr/>
        </p:nvSpPr>
        <p:spPr>
          <a:xfrm>
            <a:off x="5761727" y="3853639"/>
            <a:ext cx="3499854" cy="1001527"/>
          </a:xfrm>
          <a:prstGeom prst="arc">
            <a:avLst>
              <a:gd name="adj1" fmla="val 16743822"/>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390532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A12BDFA7-C7B7-ABFD-5853-F2BFEC075C8E}"/>
              </a:ext>
            </a:extLst>
          </p:cNvPr>
          <p:cNvGraphicFramePr/>
          <p:nvPr>
            <p:extLst>
              <p:ext uri="{D42A27DB-BD31-4B8C-83A1-F6EECF244321}">
                <p14:modId xmlns:p14="http://schemas.microsoft.com/office/powerpoint/2010/main" val="3602915291"/>
              </p:ext>
            </p:extLst>
          </p:nvPr>
        </p:nvGraphicFramePr>
        <p:xfrm>
          <a:off x="1077768" y="-86148"/>
          <a:ext cx="10036463" cy="5952836"/>
        </p:xfrm>
        <a:graphic>
          <a:graphicData uri="http://schemas.openxmlformats.org/drawingml/2006/chart">
            <c:chart xmlns:c="http://schemas.openxmlformats.org/drawingml/2006/chart" xmlns:r="http://schemas.openxmlformats.org/officeDocument/2006/relationships" r:id="rId2"/>
          </a:graphicData>
        </a:graphic>
      </p:graphicFrame>
      <p:sp>
        <p:nvSpPr>
          <p:cNvPr id="4" name="Content Placeholder 3">
            <a:extLst>
              <a:ext uri="{FF2B5EF4-FFF2-40B4-BE49-F238E27FC236}">
                <a16:creationId xmlns:a16="http://schemas.microsoft.com/office/drawing/2014/main" id="{8A764A4C-2386-146C-8516-E9D1718BC37C}"/>
              </a:ext>
            </a:extLst>
          </p:cNvPr>
          <p:cNvSpPr>
            <a:spLocks noGrp="1"/>
          </p:cNvSpPr>
          <p:nvPr>
            <p:ph idx="1"/>
          </p:nvPr>
        </p:nvSpPr>
        <p:spPr>
          <a:xfrm>
            <a:off x="1077768" y="2170630"/>
            <a:ext cx="9515763" cy="3784141"/>
          </a:xfrm>
        </p:spPr>
        <p:txBody>
          <a:bodyPr/>
          <a:lstStyle/>
          <a:p>
            <a:r>
              <a:rPr lang="en-US" dirty="0"/>
              <a:t>This project is </a:t>
            </a:r>
          </a:p>
          <a:p>
            <a:r>
              <a:rPr lang="en-US" dirty="0"/>
              <a:t>beneficial</a:t>
            </a:r>
          </a:p>
          <a:p>
            <a:r>
              <a:rPr lang="en-US" dirty="0"/>
              <a:t> to pursue due to</a:t>
            </a:r>
          </a:p>
          <a:p>
            <a:r>
              <a:rPr lang="en-US" dirty="0"/>
              <a:t>abundance of </a:t>
            </a:r>
          </a:p>
          <a:p>
            <a:r>
              <a:rPr lang="en-US" dirty="0"/>
              <a:t>Capital.</a:t>
            </a:r>
          </a:p>
        </p:txBody>
      </p:sp>
    </p:spTree>
    <p:extLst>
      <p:ext uri="{BB962C8B-B14F-4D97-AF65-F5344CB8AC3E}">
        <p14:creationId xmlns:p14="http://schemas.microsoft.com/office/powerpoint/2010/main" val="102237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8C9F-A98A-DE2B-02AC-ED827F085B89}"/>
              </a:ext>
            </a:extLst>
          </p:cNvPr>
          <p:cNvSpPr>
            <a:spLocks noGrp="1"/>
          </p:cNvSpPr>
          <p:nvPr>
            <p:ph type="title"/>
          </p:nvPr>
        </p:nvSpPr>
        <p:spPr/>
        <p:txBody>
          <a:bodyPr/>
          <a:lstStyle/>
          <a:p>
            <a:r>
              <a:rPr lang="en-US" dirty="0"/>
              <a:t>Implementation SOP </a:t>
            </a:r>
          </a:p>
        </p:txBody>
      </p:sp>
      <p:sp>
        <p:nvSpPr>
          <p:cNvPr id="3" name="Content Placeholder 2">
            <a:extLst>
              <a:ext uri="{FF2B5EF4-FFF2-40B4-BE49-F238E27FC236}">
                <a16:creationId xmlns:a16="http://schemas.microsoft.com/office/drawing/2014/main" id="{4A7E073E-EC24-4BA1-67FF-5B8663474C53}"/>
              </a:ext>
            </a:extLst>
          </p:cNvPr>
          <p:cNvSpPr>
            <a:spLocks noGrp="1"/>
          </p:cNvSpPr>
          <p:nvPr>
            <p:ph idx="1"/>
          </p:nvPr>
        </p:nvSpPr>
        <p:spPr/>
        <p:txBody>
          <a:bodyPr>
            <a:normAutofit lnSpcReduction="10000"/>
          </a:bodyPr>
          <a:lstStyle/>
          <a:p>
            <a:r>
              <a:rPr lang="en-US" sz="1400" b="1" dirty="0">
                <a:latin typeface="Times New Roman" panose="02020603050405020304" pitchFamily="18" charset="0"/>
                <a:cs typeface="Times New Roman" panose="02020603050405020304" pitchFamily="18" charset="0"/>
              </a:rPr>
              <a:t>Preparation: </a:t>
            </a:r>
            <a:r>
              <a:rPr lang="en-US" sz="1400" dirty="0">
                <a:latin typeface="Times New Roman" panose="02020603050405020304" pitchFamily="18" charset="0"/>
                <a:cs typeface="Times New Roman" panose="02020603050405020304" pitchFamily="18" charset="0"/>
              </a:rPr>
              <a:t>Automating</a:t>
            </a: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of scanning INFORM network for abnormal traffic patterns and behaviors and IOC (Indicator of Compromise) for identifying breaches.</a:t>
            </a:r>
          </a:p>
          <a:p>
            <a:r>
              <a:rPr lang="en-US" sz="1400" b="0" i="0" dirty="0">
                <a:solidFill>
                  <a:srgbClr val="1E202C"/>
                </a:solidFill>
                <a:effectLst/>
                <a:latin typeface="Times New Roman" panose="02020603050405020304" pitchFamily="18" charset="0"/>
                <a:cs typeface="Times New Roman" panose="02020603050405020304" pitchFamily="18" charset="0"/>
              </a:rPr>
              <a:t> </a:t>
            </a:r>
            <a:r>
              <a:rPr lang="en-US" sz="1400" b="1" dirty="0">
                <a:solidFill>
                  <a:srgbClr val="1E202C"/>
                </a:solidFill>
                <a:latin typeface="Times New Roman" panose="02020603050405020304" pitchFamily="18" charset="0"/>
                <a:cs typeface="Times New Roman" panose="02020603050405020304" pitchFamily="18" charset="0"/>
              </a:rPr>
              <a:t>D</a:t>
            </a:r>
            <a:r>
              <a:rPr lang="en-US" sz="1400" b="1" i="0" dirty="0">
                <a:solidFill>
                  <a:srgbClr val="1E202C"/>
                </a:solidFill>
                <a:effectLst/>
                <a:latin typeface="Times New Roman" panose="02020603050405020304" pitchFamily="18" charset="0"/>
                <a:cs typeface="Times New Roman" panose="02020603050405020304" pitchFamily="18" charset="0"/>
              </a:rPr>
              <a:t>etection/Analysis:  </a:t>
            </a:r>
            <a:r>
              <a:rPr lang="en-US" sz="1400" i="0" dirty="0">
                <a:solidFill>
                  <a:srgbClr val="1E202C"/>
                </a:solidFill>
                <a:effectLst/>
                <a:latin typeface="Times New Roman" panose="02020603050405020304" pitchFamily="18" charset="0"/>
                <a:cs typeface="Times New Roman" panose="02020603050405020304" pitchFamily="18" charset="0"/>
              </a:rPr>
              <a:t>Prioritizing incidents when multiple attacks are occurring, noticing the hallmarks of an incident happening or has happened (indicators) or (Precursors) determining if an incident will happen in the future. Antivirus software alerts and documenting SOPs (Standard Operating Procedures).</a:t>
            </a:r>
          </a:p>
          <a:p>
            <a:r>
              <a:rPr lang="en-US" sz="1400" b="1" dirty="0">
                <a:solidFill>
                  <a:srgbClr val="1E202C"/>
                </a:solidFill>
                <a:latin typeface="Times New Roman" panose="02020603050405020304" pitchFamily="18" charset="0"/>
                <a:cs typeface="Times New Roman" panose="02020603050405020304" pitchFamily="18" charset="0"/>
              </a:rPr>
              <a:t>C</a:t>
            </a:r>
            <a:r>
              <a:rPr lang="en-US" sz="1400" b="1" i="0" dirty="0">
                <a:solidFill>
                  <a:srgbClr val="1E202C"/>
                </a:solidFill>
                <a:effectLst/>
                <a:latin typeface="Times New Roman" panose="02020603050405020304" pitchFamily="18" charset="0"/>
                <a:cs typeface="Times New Roman" panose="02020603050405020304" pitchFamily="18" charset="0"/>
              </a:rPr>
              <a:t>ontainment/Eradication: </a:t>
            </a:r>
            <a:r>
              <a:rPr lang="en-US" sz="1400" i="0" dirty="0">
                <a:solidFill>
                  <a:srgbClr val="1E202C"/>
                </a:solidFill>
                <a:effectLst/>
                <a:latin typeface="Times New Roman" panose="02020603050405020304" pitchFamily="18" charset="0"/>
                <a:cs typeface="Times New Roman" panose="02020603050405020304" pitchFamily="18" charset="0"/>
              </a:rPr>
              <a:t>Isolating networks that are compromised, end processes that are malicious, containing threat actors using honeypots and blocking suspicious IP address real-time. Automated response systems work best here.</a:t>
            </a:r>
          </a:p>
          <a:p>
            <a:r>
              <a:rPr lang="en-US" sz="1400" b="1" dirty="0">
                <a:solidFill>
                  <a:srgbClr val="1E202C"/>
                </a:solidFill>
                <a:latin typeface="Times New Roman" panose="02020603050405020304" pitchFamily="18" charset="0"/>
                <a:cs typeface="Times New Roman" panose="02020603050405020304" pitchFamily="18" charset="0"/>
              </a:rPr>
              <a:t>R</a:t>
            </a:r>
            <a:r>
              <a:rPr lang="en-US" sz="1400" b="1" i="0" dirty="0">
                <a:solidFill>
                  <a:srgbClr val="1E202C"/>
                </a:solidFill>
                <a:effectLst/>
                <a:latin typeface="Times New Roman" panose="02020603050405020304" pitchFamily="18" charset="0"/>
                <a:cs typeface="Times New Roman" panose="02020603050405020304" pitchFamily="18" charset="0"/>
              </a:rPr>
              <a:t>ecovery: </a:t>
            </a:r>
            <a:r>
              <a:rPr lang="en-US" sz="1400" i="0" dirty="0">
                <a:solidFill>
                  <a:srgbClr val="1E202C"/>
                </a:solidFill>
                <a:effectLst/>
                <a:latin typeface="Times New Roman" panose="02020603050405020304" pitchFamily="18" charset="0"/>
                <a:cs typeface="Times New Roman" panose="02020603050405020304" pitchFamily="18" charset="0"/>
              </a:rPr>
              <a:t>Using SOPs to minimizing downtime and operationa</a:t>
            </a:r>
            <a:r>
              <a:rPr lang="en-US" sz="1400" dirty="0">
                <a:solidFill>
                  <a:srgbClr val="1E202C"/>
                </a:solidFill>
                <a:latin typeface="Times New Roman" panose="02020603050405020304" pitchFamily="18" charset="0"/>
                <a:cs typeface="Times New Roman" panose="02020603050405020304" pitchFamily="18" charset="0"/>
              </a:rPr>
              <a:t>l impacts to INFORM. Utilizing disk imaging, data mirroring, backups, integrity, Raid and multiple servers. </a:t>
            </a:r>
          </a:p>
          <a:p>
            <a:r>
              <a:rPr lang="en-US" sz="1400" b="1" dirty="0">
                <a:solidFill>
                  <a:srgbClr val="1E202C"/>
                </a:solidFill>
                <a:latin typeface="Times New Roman" panose="02020603050405020304" pitchFamily="18" charset="0"/>
                <a:cs typeface="Times New Roman" panose="02020603050405020304" pitchFamily="18" charset="0"/>
              </a:rPr>
              <a:t>Post Recovery: </a:t>
            </a:r>
            <a:r>
              <a:rPr lang="en-US" sz="1400" dirty="0">
                <a:solidFill>
                  <a:srgbClr val="1E202C"/>
                </a:solidFill>
                <a:latin typeface="Times New Roman" panose="02020603050405020304" pitchFamily="18" charset="0"/>
                <a:cs typeface="Times New Roman" panose="02020603050405020304" pitchFamily="18" charset="0"/>
              </a:rPr>
              <a:t>Lessons learned, training, and implementing and amending living the SOP.</a:t>
            </a:r>
          </a:p>
          <a:p>
            <a:r>
              <a:rPr lang="en-US" sz="1400" b="1" u="sng" dirty="0">
                <a:solidFill>
                  <a:srgbClr val="1E202C"/>
                </a:solidFill>
                <a:latin typeface="Times New Roman" panose="02020603050405020304" pitchFamily="18" charset="0"/>
                <a:cs typeface="Times New Roman" panose="02020603050405020304" pitchFamily="18" charset="0"/>
              </a:rPr>
              <a:t>Cyber Security Resources:</a:t>
            </a:r>
          </a:p>
          <a:p>
            <a:r>
              <a:rPr lang="en-US" sz="1400" b="1" dirty="0">
                <a:solidFill>
                  <a:srgbClr val="1E202C"/>
                </a:solidFill>
                <a:latin typeface="Times New Roman" panose="02020603050405020304" pitchFamily="18" charset="0"/>
                <a:cs typeface="Times New Roman" panose="02020603050405020304" pitchFamily="18" charset="0"/>
              </a:rPr>
              <a:t>Incident Response Team: </a:t>
            </a:r>
            <a:r>
              <a:rPr lang="en-US" sz="1400" dirty="0">
                <a:solidFill>
                  <a:srgbClr val="1E202C"/>
                </a:solidFill>
                <a:latin typeface="Times New Roman" panose="02020603050405020304" pitchFamily="18" charset="0"/>
                <a:cs typeface="Times New Roman" panose="02020603050405020304" pitchFamily="18" charset="0"/>
              </a:rPr>
              <a:t>Specialized group, trained and tested.</a:t>
            </a:r>
          </a:p>
          <a:p>
            <a:r>
              <a:rPr lang="en-US" sz="1400" b="1" dirty="0">
                <a:solidFill>
                  <a:srgbClr val="1E202C"/>
                </a:solidFill>
                <a:latin typeface="Times New Roman" panose="02020603050405020304" pitchFamily="18" charset="0"/>
                <a:cs typeface="Times New Roman" panose="02020603050405020304" pitchFamily="18" charset="0"/>
              </a:rPr>
              <a:t>IT Security Management: </a:t>
            </a:r>
            <a:r>
              <a:rPr lang="en-US" sz="1400" dirty="0">
                <a:solidFill>
                  <a:srgbClr val="1E202C"/>
                </a:solidFill>
                <a:latin typeface="Times New Roman" panose="02020603050405020304" pitchFamily="18" charset="0"/>
                <a:cs typeface="Times New Roman" panose="02020603050405020304" pitchFamily="18" charset="0"/>
              </a:rPr>
              <a:t>Corporate support.</a:t>
            </a:r>
          </a:p>
          <a:p>
            <a:r>
              <a:rPr lang="en-US" sz="1400" b="1" dirty="0">
                <a:solidFill>
                  <a:srgbClr val="1E202C"/>
                </a:solidFill>
                <a:latin typeface="Times New Roman" panose="02020603050405020304" pitchFamily="18" charset="0"/>
                <a:cs typeface="Times New Roman" panose="02020603050405020304" pitchFamily="18" charset="0"/>
              </a:rPr>
              <a:t>Compliance Officers: </a:t>
            </a:r>
            <a:r>
              <a:rPr lang="en-US" sz="1400" dirty="0">
                <a:solidFill>
                  <a:srgbClr val="1E202C"/>
                </a:solidFill>
                <a:latin typeface="Times New Roman" panose="02020603050405020304" pitchFamily="18" charset="0"/>
                <a:cs typeface="Times New Roman" panose="02020603050405020304" pitchFamily="18" charset="0"/>
              </a:rPr>
              <a:t>Intricate knowledge of compliance rules.</a:t>
            </a:r>
          </a:p>
          <a:p>
            <a:r>
              <a:rPr lang="en-US" sz="1400" b="1" dirty="0">
                <a:solidFill>
                  <a:srgbClr val="1E202C"/>
                </a:solidFill>
                <a:latin typeface="Times New Roman" panose="02020603050405020304" pitchFamily="18" charset="0"/>
                <a:cs typeface="Times New Roman" panose="02020603050405020304" pitchFamily="18" charset="0"/>
              </a:rPr>
              <a:t>Technical Staff: </a:t>
            </a:r>
            <a:r>
              <a:rPr lang="en-US" sz="1400" dirty="0">
                <a:solidFill>
                  <a:srgbClr val="1E202C"/>
                </a:solidFill>
                <a:latin typeface="Times New Roman" panose="02020603050405020304" pitchFamily="18" charset="0"/>
                <a:cs typeface="Times New Roman" panose="02020603050405020304" pitchFamily="18" charset="0"/>
              </a:rPr>
              <a:t>Team in the trenches.</a:t>
            </a:r>
          </a:p>
          <a:p>
            <a:r>
              <a:rPr lang="en-US" sz="1400" b="1" dirty="0">
                <a:solidFill>
                  <a:srgbClr val="1E202C"/>
                </a:solidFill>
                <a:latin typeface="Times New Roman" panose="02020603050405020304" pitchFamily="18" charset="0"/>
                <a:cs typeface="Times New Roman" panose="02020603050405020304" pitchFamily="18" charset="0"/>
              </a:rPr>
              <a:t>User Community: </a:t>
            </a:r>
            <a:r>
              <a:rPr lang="en-US" sz="1400" dirty="0">
                <a:solidFill>
                  <a:srgbClr val="1E202C"/>
                </a:solidFill>
                <a:latin typeface="Times New Roman" panose="02020603050405020304" pitchFamily="18" charset="0"/>
                <a:cs typeface="Times New Roman" panose="02020603050405020304" pitchFamily="18" charset="0"/>
              </a:rPr>
              <a:t>Public that sees everything.</a:t>
            </a:r>
          </a:p>
        </p:txBody>
      </p:sp>
    </p:spTree>
    <p:extLst>
      <p:ext uri="{BB962C8B-B14F-4D97-AF65-F5344CB8AC3E}">
        <p14:creationId xmlns:p14="http://schemas.microsoft.com/office/powerpoint/2010/main" val="3430627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a process&#10;&#10;Description automatically generated">
            <a:extLst>
              <a:ext uri="{FF2B5EF4-FFF2-40B4-BE49-F238E27FC236}">
                <a16:creationId xmlns:a16="http://schemas.microsoft.com/office/drawing/2014/main" id="{34BF9EE5-418F-D180-7C57-5E1FD7FB8482}"/>
              </a:ext>
            </a:extLst>
          </p:cNvPr>
          <p:cNvPicPr>
            <a:picLocks noChangeAspect="1"/>
          </p:cNvPicPr>
          <p:nvPr/>
        </p:nvPicPr>
        <p:blipFill>
          <a:blip r:embed="rId2">
            <a:extLst>
              <a:ext uri="{28A0092B-C50C-407E-A947-70E740481C1C}">
                <a14:useLocalDpi xmlns:a14="http://schemas.microsoft.com/office/drawing/2010/main" val="0"/>
              </a:ext>
            </a:extLst>
          </a:blip>
          <a:srcRect r="1388" b="2"/>
          <a:stretch/>
        </p:blipFill>
        <p:spPr>
          <a:xfrm>
            <a:off x="1" y="10"/>
            <a:ext cx="6936390" cy="6857990"/>
          </a:xfrm>
          <a:prstGeom prst="rect">
            <a:avLst/>
          </a:prstGeom>
        </p:spPr>
      </p:pic>
      <p:sp>
        <p:nvSpPr>
          <p:cNvPr id="14" name="Content Placeholder 13">
            <a:extLst>
              <a:ext uri="{FF2B5EF4-FFF2-40B4-BE49-F238E27FC236}">
                <a16:creationId xmlns:a16="http://schemas.microsoft.com/office/drawing/2014/main" id="{675B9CF5-E0CD-30DE-9D7F-DCBC642B53FB}"/>
              </a:ext>
            </a:extLst>
          </p:cNvPr>
          <p:cNvSpPr>
            <a:spLocks noGrp="1"/>
          </p:cNvSpPr>
          <p:nvPr>
            <p:ph idx="1"/>
          </p:nvPr>
        </p:nvSpPr>
        <p:spPr>
          <a:xfrm>
            <a:off x="7531610" y="2434201"/>
            <a:ext cx="3822189" cy="3742762"/>
          </a:xfrm>
        </p:spPr>
        <p:txBody>
          <a:bodyPr>
            <a:normAutofit/>
          </a:bodyPr>
          <a:lstStyle/>
          <a:p>
            <a:r>
              <a:rPr lang="en-US" sz="3600" dirty="0"/>
              <a:t>Implementation Flow Diagram</a:t>
            </a:r>
            <a:endParaRPr lang="en-US" sz="2000" dirty="0"/>
          </a:p>
        </p:txBody>
      </p:sp>
    </p:spTree>
    <p:extLst>
      <p:ext uri="{BB962C8B-B14F-4D97-AF65-F5344CB8AC3E}">
        <p14:creationId xmlns:p14="http://schemas.microsoft.com/office/powerpoint/2010/main" val="486156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F5D5E-5918-8FD5-9705-B20BA8C2C6DE}"/>
              </a:ext>
            </a:extLst>
          </p:cNvPr>
          <p:cNvSpPr>
            <a:spLocks noGrp="1"/>
          </p:cNvSpPr>
          <p:nvPr>
            <p:ph type="title"/>
          </p:nvPr>
        </p:nvSpPr>
        <p:spPr/>
        <p:txBody>
          <a:bodyPr/>
          <a:lstStyle/>
          <a:p>
            <a:r>
              <a:rPr lang="en-US" dirty="0"/>
              <a:t>Solution Validation</a:t>
            </a:r>
          </a:p>
        </p:txBody>
      </p:sp>
      <p:sp>
        <p:nvSpPr>
          <p:cNvPr id="3" name="Content Placeholder 2">
            <a:extLst>
              <a:ext uri="{FF2B5EF4-FFF2-40B4-BE49-F238E27FC236}">
                <a16:creationId xmlns:a16="http://schemas.microsoft.com/office/drawing/2014/main" id="{58306756-BE37-E123-B0E0-943206F92511}"/>
              </a:ext>
            </a:extLst>
          </p:cNvPr>
          <p:cNvSpPr>
            <a:spLocks noGrp="1"/>
          </p:cNvSpPr>
          <p:nvPr>
            <p:ph idx="1"/>
          </p:nvPr>
        </p:nvSpPr>
        <p:spPr/>
        <p:txBody>
          <a:bodyPr/>
          <a:lstStyle/>
          <a:p>
            <a:pPr>
              <a:lnSpc>
                <a:spcPct val="150000"/>
              </a:lnSpc>
            </a:pPr>
            <a:r>
              <a:rPr lang="en-US" dirty="0"/>
              <a:t>The testing phase will run for a period of 4 months</a:t>
            </a:r>
          </a:p>
          <a:p>
            <a:pPr>
              <a:lnSpc>
                <a:spcPct val="150000"/>
              </a:lnSpc>
            </a:pPr>
            <a:r>
              <a:rPr lang="en-US" dirty="0"/>
              <a:t>The Pilot will run for 4 months</a:t>
            </a:r>
          </a:p>
          <a:p>
            <a:pPr>
              <a:lnSpc>
                <a:spcPct val="150000"/>
              </a:lnSpc>
            </a:pPr>
            <a:r>
              <a:rPr lang="en-US" dirty="0"/>
              <a:t>INFORM will have a total of 50 participants</a:t>
            </a:r>
          </a:p>
          <a:p>
            <a:pPr>
              <a:lnSpc>
                <a:spcPct val="150000"/>
              </a:lnSpc>
            </a:pPr>
            <a:r>
              <a:rPr lang="en-US" dirty="0"/>
              <a:t>The KPI, stress testing, sandboxing environments, and auditing</a:t>
            </a:r>
          </a:p>
          <a:p>
            <a:endParaRPr lang="en-US" dirty="0">
              <a:highlight>
                <a:srgbClr val="FFFF00"/>
              </a:highlight>
            </a:endParaRPr>
          </a:p>
        </p:txBody>
      </p:sp>
    </p:spTree>
    <p:extLst>
      <p:ext uri="{BB962C8B-B14F-4D97-AF65-F5344CB8AC3E}">
        <p14:creationId xmlns:p14="http://schemas.microsoft.com/office/powerpoint/2010/main" val="3251362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87EA8-83E9-7228-43F8-2E2175F8E76D}"/>
              </a:ext>
            </a:extLst>
          </p:cNvPr>
          <p:cNvSpPr>
            <a:spLocks noGrp="1"/>
          </p:cNvSpPr>
          <p:nvPr>
            <p:ph type="title"/>
          </p:nvPr>
        </p:nvSpPr>
        <p:spPr/>
        <p:txBody>
          <a:bodyPr/>
          <a:lstStyle/>
          <a:p>
            <a:r>
              <a:rPr lang="en-US" dirty="0"/>
              <a:t>Evaluation and Continuous Improvement </a:t>
            </a:r>
          </a:p>
        </p:txBody>
      </p:sp>
      <p:sp>
        <p:nvSpPr>
          <p:cNvPr id="3" name="Content Placeholder 2">
            <a:extLst>
              <a:ext uri="{FF2B5EF4-FFF2-40B4-BE49-F238E27FC236}">
                <a16:creationId xmlns:a16="http://schemas.microsoft.com/office/drawing/2014/main" id="{F8DC3D62-3554-25CD-5DFC-18770DF2FAF3}"/>
              </a:ext>
            </a:extLst>
          </p:cNvPr>
          <p:cNvSpPr>
            <a:spLocks noGrp="1"/>
          </p:cNvSpPr>
          <p:nvPr>
            <p:ph idx="1"/>
          </p:nvPr>
        </p:nvSpPr>
        <p:spPr/>
        <p:txBody>
          <a:bodyPr/>
          <a:lstStyle/>
          <a:p>
            <a:r>
              <a:rPr lang="en-US" dirty="0"/>
              <a:t>After Penn Testing, review of the findings from employing white hackers and stress testing, the network will have data that is sound to analyze. As the honeypot allows for containment, the sandbox will allow for further forensics.</a:t>
            </a:r>
          </a:p>
          <a:p>
            <a:r>
              <a:rPr lang="en-US" dirty="0"/>
              <a:t>Keeping living policy and procedure and lessons learned after an incident is how updating will occur.</a:t>
            </a:r>
          </a:p>
          <a:p>
            <a:r>
              <a:rPr lang="en-US" dirty="0"/>
              <a:t>Quarterly the reassessment will take place.</a:t>
            </a:r>
          </a:p>
          <a:p>
            <a:pPr marL="0" indent="0">
              <a:buNone/>
            </a:pPr>
            <a:endParaRPr lang="en-US" dirty="0"/>
          </a:p>
          <a:p>
            <a:endParaRPr lang="en-US" dirty="0"/>
          </a:p>
        </p:txBody>
      </p:sp>
    </p:spTree>
    <p:extLst>
      <p:ext uri="{BB962C8B-B14F-4D97-AF65-F5344CB8AC3E}">
        <p14:creationId xmlns:p14="http://schemas.microsoft.com/office/powerpoint/2010/main" val="3064943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E0BE9-52AD-2061-AA12-2FB4BA0B5DAE}"/>
              </a:ext>
            </a:extLst>
          </p:cNvPr>
          <p:cNvSpPr>
            <a:spLocks noGrp="1"/>
          </p:cNvSpPr>
          <p:nvPr>
            <p:ph type="title"/>
          </p:nvPr>
        </p:nvSpPr>
        <p:spPr/>
        <p:txBody>
          <a:bodyPr/>
          <a:lstStyle/>
          <a:p>
            <a:r>
              <a:rPr lang="en-US" dirty="0"/>
              <a:t>Decommissioning</a:t>
            </a:r>
          </a:p>
        </p:txBody>
      </p:sp>
      <p:sp>
        <p:nvSpPr>
          <p:cNvPr id="3" name="Content Placeholder 2">
            <a:extLst>
              <a:ext uri="{FF2B5EF4-FFF2-40B4-BE49-F238E27FC236}">
                <a16:creationId xmlns:a16="http://schemas.microsoft.com/office/drawing/2014/main" id="{7E35CF39-A969-B2AD-3718-4B5F8C2763C4}"/>
              </a:ext>
            </a:extLst>
          </p:cNvPr>
          <p:cNvSpPr>
            <a:spLocks noGrp="1"/>
          </p:cNvSpPr>
          <p:nvPr>
            <p:ph idx="1"/>
          </p:nvPr>
        </p:nvSpPr>
        <p:spPr/>
        <p:txBody>
          <a:bodyPr>
            <a:normAutofit lnSpcReduction="10000"/>
          </a:bodyPr>
          <a:lstStyle/>
          <a:p>
            <a:r>
              <a:rPr lang="en-US" dirty="0"/>
              <a:t>Decommissioning process:</a:t>
            </a:r>
          </a:p>
          <a:p>
            <a:r>
              <a:rPr lang="en-US" dirty="0"/>
              <a:t>Planning and taking stock of the data, software and systems</a:t>
            </a:r>
          </a:p>
          <a:p>
            <a:r>
              <a:rPr lang="en-US" dirty="0"/>
              <a:t>Data backup of critical information that are in compliance</a:t>
            </a:r>
          </a:p>
          <a:p>
            <a:r>
              <a:rPr lang="en-US" dirty="0"/>
              <a:t>Sanitization, destruction of hard drives</a:t>
            </a:r>
          </a:p>
          <a:p>
            <a:r>
              <a:rPr lang="en-US" dirty="0"/>
              <a:t>Degaussing using a high-powered magnet to remove data</a:t>
            </a:r>
          </a:p>
          <a:p>
            <a:r>
              <a:rPr lang="en-US" dirty="0"/>
              <a:t>Logging all data: The solution data will be encrypted and backed-up</a:t>
            </a:r>
          </a:p>
          <a:p>
            <a:r>
              <a:rPr lang="en-US" dirty="0"/>
              <a:t>Decommissioning Software: Uninstall properly after getting approval to do so.</a:t>
            </a:r>
          </a:p>
          <a:p>
            <a:r>
              <a:rPr lang="en-US" dirty="0"/>
              <a:t>Monitoring after the decommission is important </a:t>
            </a:r>
            <a:r>
              <a:rPr lang="en-US"/>
              <a:t>as well.</a:t>
            </a:r>
            <a:endParaRPr lang="en-US" dirty="0"/>
          </a:p>
        </p:txBody>
      </p:sp>
    </p:spTree>
    <p:extLst>
      <p:ext uri="{BB962C8B-B14F-4D97-AF65-F5344CB8AC3E}">
        <p14:creationId xmlns:p14="http://schemas.microsoft.com/office/powerpoint/2010/main" val="2845988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64AE3-20AC-4518-A24F-184364E8F222}"/>
              </a:ext>
            </a:extLst>
          </p:cNvPr>
          <p:cNvSpPr>
            <a:spLocks noGrp="1"/>
          </p:cNvSpPr>
          <p:nvPr>
            <p:ph type="title"/>
          </p:nvPr>
        </p:nvSpPr>
        <p:spPr/>
        <p:txBody>
          <a:bodyPr/>
          <a:lstStyle/>
          <a:p>
            <a:r>
              <a:rPr lang="en-US" dirty="0"/>
              <a:t>Legal, Ethical and Cultural Considerations</a:t>
            </a:r>
          </a:p>
        </p:txBody>
      </p:sp>
      <p:sp>
        <p:nvSpPr>
          <p:cNvPr id="3" name="Content Placeholder 2">
            <a:extLst>
              <a:ext uri="{FF2B5EF4-FFF2-40B4-BE49-F238E27FC236}">
                <a16:creationId xmlns:a16="http://schemas.microsoft.com/office/drawing/2014/main" id="{7EF6F71F-5E18-4A78-A36D-233059D0548A}"/>
              </a:ext>
            </a:extLst>
          </p:cNvPr>
          <p:cNvSpPr>
            <a:spLocks noGrp="1"/>
          </p:cNvSpPr>
          <p:nvPr>
            <p:ph idx="1"/>
          </p:nvPr>
        </p:nvSpPr>
        <p:spPr/>
        <p:txBody>
          <a:bodyPr/>
          <a:lstStyle/>
          <a:p>
            <a:r>
              <a:rPr lang="en-US" dirty="0"/>
              <a:t>Safeguarding information requires policy and planning. For the transportation industry, keeping the critical data safe is the up most importance along with following the guidelines such as ePHI.</a:t>
            </a:r>
          </a:p>
          <a:p>
            <a:r>
              <a:rPr lang="en-US" dirty="0"/>
              <a:t>MFA is the prescribed strategy for the transportation industry. Using a level of security clearance to have no write-up policy and no write-down.</a:t>
            </a:r>
          </a:p>
          <a:p>
            <a:r>
              <a:rPr lang="en-US" dirty="0"/>
              <a:t>Consistent training and computer learning environments are the way to train employees about threats internally and externally.</a:t>
            </a:r>
          </a:p>
        </p:txBody>
      </p:sp>
    </p:spTree>
    <p:extLst>
      <p:ext uri="{BB962C8B-B14F-4D97-AF65-F5344CB8AC3E}">
        <p14:creationId xmlns:p14="http://schemas.microsoft.com/office/powerpoint/2010/main" val="1651588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7FF29DAF2B2474CAA0976D75413A80B" ma:contentTypeVersion="20" ma:contentTypeDescription="Create a new document." ma:contentTypeScope="" ma:versionID="1bc55e9eb1e1cc66f2eb1c33e6b9be96">
  <xsd:schema xmlns:xsd="http://www.w3.org/2001/XMLSchema" xmlns:xs="http://www.w3.org/2001/XMLSchema" xmlns:p="http://schemas.microsoft.com/office/2006/metadata/properties" xmlns:ns1="http://schemas.microsoft.com/sharepoint/v3" xmlns:ns3="f681fcbd-d5a2-4336-a092-82e7af704741" xmlns:ns4="c9140fa4-d231-4bf2-8e30-bda3cfa5fa06" targetNamespace="http://schemas.microsoft.com/office/2006/metadata/properties" ma:root="true" ma:fieldsID="47d93689c161693b0321a7ae4ce647b7" ns1:_="" ns3:_="" ns4:_="">
    <xsd:import namespace="http://schemas.microsoft.com/sharepoint/v3"/>
    <xsd:import namespace="f681fcbd-d5a2-4336-a092-82e7af704741"/>
    <xsd:import namespace="c9140fa4-d231-4bf2-8e30-bda3cfa5fa06"/>
    <xsd:element name="properties">
      <xsd:complexType>
        <xsd:sequence>
          <xsd:element name="documentManagement">
            <xsd:complexType>
              <xsd:all>
                <xsd:element ref="ns3:MigrationWizId" minOccurs="0"/>
                <xsd:element ref="ns3:MigrationWizIdPermissions" minOccurs="0"/>
                <xsd:element ref="ns3:MigrationWizIdPermissionLevels" minOccurs="0"/>
                <xsd:element ref="ns3:MigrationWizIdDocumentLibraryPermissions" minOccurs="0"/>
                <xsd:element ref="ns3:MigrationWizIdSecurityGroups" minOccurs="0"/>
                <xsd:element ref="ns4:SharedWithUsers" minOccurs="0"/>
                <xsd:element ref="ns4:SharedWithDetails" minOccurs="0"/>
                <xsd:element ref="ns4:SharingHintHash" minOccurs="0"/>
                <xsd:element ref="ns3:MediaServiceMetadata" minOccurs="0"/>
                <xsd:element ref="ns3:MediaServiceFastMetadata" minOccurs="0"/>
                <xsd:element ref="ns3:MediaServiceAutoTags" minOccurs="0"/>
                <xsd:element ref="ns3:MediaServiceOCR" minOccurs="0"/>
                <xsd:element ref="ns3:MediaServiceDateTaken" minOccurs="0"/>
                <xsd:element ref="ns1:_ip_UnifiedCompliancePolicyProperties" minOccurs="0"/>
                <xsd:element ref="ns1:_ip_UnifiedCompliancePolicyUIAction" minOccurs="0"/>
                <xsd:element ref="ns3:MediaServiceGenerationTime" minOccurs="0"/>
                <xsd:element ref="ns3:MediaServiceEventHashCode" minOccurs="0"/>
                <xsd:element ref="ns3:MediaServiceAutoKeyPoints" minOccurs="0"/>
                <xsd:element ref="ns3:MediaServiceKeyPoint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81fcbd-d5a2-4336-a092-82e7af704741"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6" nillable="true" ma:displayName="MediaServiceMetadata" ma:hidden="true" ma:internalName="MediaServiceMetadata" ma:readOnly="true">
      <xsd:simpleType>
        <xsd:restriction base="dms:Note"/>
      </xsd:simpleType>
    </xsd:element>
    <xsd:element name="MediaServiceFastMetadata" ma:index="17" nillable="true" ma:displayName="MediaServiceFastMetadata" ma:hidden="true" ma:internalName="MediaServiceFastMetadata" ma:readOnly="true">
      <xsd:simpleType>
        <xsd:restriction base="dms:Note"/>
      </xsd:simpleType>
    </xsd:element>
    <xsd:element name="MediaServiceAutoTags" ma:index="18"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DateTaken" ma:index="20" nillable="true" ma:displayName="MediaServiceDateTaken" ma:hidden="true" ma:internalName="MediaServiceDateTaken" ma:readOnly="true">
      <xsd:simpleType>
        <xsd:restriction base="dms:Text"/>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ServiceAutoKeyPoints" ma:index="25" nillable="true" ma:displayName="MediaServiceAutoKeyPoints" ma:hidden="true" ma:internalName="MediaServiceAutoKeyPoints" ma:readOnly="true">
      <xsd:simpleType>
        <xsd:restriction base="dms:Note"/>
      </xsd:simpleType>
    </xsd:element>
    <xsd:element name="MediaServiceKeyPoints" ma:index="26" nillable="true" ma:displayName="KeyPoints" ma:internalName="MediaServiceKeyPoints" ma:readOnly="true">
      <xsd:simpleType>
        <xsd:restriction base="dms:Note">
          <xsd:maxLength value="255"/>
        </xsd:restriction>
      </xsd:simpleType>
    </xsd:element>
    <xsd:element name="MediaServiceLocation" ma:index="27"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9140fa4-d231-4bf2-8e30-bda3cfa5fa06"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igrationWizIdPermissions xmlns="f681fcbd-d5a2-4336-a092-82e7af704741" xsi:nil="true"/>
    <_ip_UnifiedCompliancePolicyUIAction xmlns="http://schemas.microsoft.com/sharepoint/v3" xsi:nil="true"/>
    <MigrationWizIdDocumentLibraryPermissions xmlns="f681fcbd-d5a2-4336-a092-82e7af704741" xsi:nil="true"/>
    <MigrationWizIdPermissionLevels xmlns="f681fcbd-d5a2-4336-a092-82e7af704741" xsi:nil="true"/>
    <MigrationWizId xmlns="f681fcbd-d5a2-4336-a092-82e7af704741" xsi:nil="true"/>
    <_ip_UnifiedCompliancePolicyProperties xmlns="http://schemas.microsoft.com/sharepoint/v3" xsi:nil="true"/>
    <MigrationWizIdSecurityGroups xmlns="f681fcbd-d5a2-4336-a092-82e7af704741" xsi:nil="true"/>
  </documentManagement>
</p:properties>
</file>

<file path=customXml/itemProps1.xml><?xml version="1.0" encoding="utf-8"?>
<ds:datastoreItem xmlns:ds="http://schemas.openxmlformats.org/officeDocument/2006/customXml" ds:itemID="{5A747DFE-EDB3-4B03-B768-DE23C1504B0E}">
  <ds:schemaRefs>
    <ds:schemaRef ds:uri="http://schemas.microsoft.com/sharepoint/v3/contenttype/forms"/>
  </ds:schemaRefs>
</ds:datastoreItem>
</file>

<file path=customXml/itemProps2.xml><?xml version="1.0" encoding="utf-8"?>
<ds:datastoreItem xmlns:ds="http://schemas.openxmlformats.org/officeDocument/2006/customXml" ds:itemID="{0522ABCA-037E-44D8-B854-A49E34A626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681fcbd-d5a2-4336-a092-82e7af704741"/>
    <ds:schemaRef ds:uri="c9140fa4-d231-4bf2-8e30-bda3cfa5fa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976A89-D2B8-4205-B352-FBC5A90D146E}">
  <ds:schemaRefs>
    <ds:schemaRef ds:uri="http://schemas.microsoft.com/office/2006/metadata/properties"/>
    <ds:schemaRef ds:uri="http://schemas.microsoft.com/office/2006/documentManagement/types"/>
    <ds:schemaRef ds:uri="f681fcbd-d5a2-4336-a092-82e7af704741"/>
    <ds:schemaRef ds:uri="http://purl.org/dc/elements/1.1/"/>
    <ds:schemaRef ds:uri="http://www.w3.org/XML/1998/namespace"/>
    <ds:schemaRef ds:uri="http://purl.org/dc/terms/"/>
    <ds:schemaRef ds:uri="http://schemas.microsoft.com/office/infopath/2007/PartnerControls"/>
    <ds:schemaRef ds:uri="c9140fa4-d231-4bf2-8e30-bda3cfa5fa06"/>
    <ds:schemaRef ds:uri="http://schemas.openxmlformats.org/package/2006/metadata/core-properties"/>
    <ds:schemaRef ds:uri="http://schemas.microsoft.com/sharepoint/v3"/>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2042</TotalTime>
  <Words>643</Words>
  <Application>Microsoft Office PowerPoint</Application>
  <PresentationFormat>Widescreen</PresentationFormat>
  <Paragraphs>101</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Calibri Light</vt:lpstr>
      <vt:lpstr>Times New Roman</vt:lpstr>
      <vt:lpstr>Office Theme</vt:lpstr>
      <vt:lpstr>SEC572 Week 6</vt:lpstr>
      <vt:lpstr>Rubric</vt:lpstr>
      <vt:lpstr>Problem Statement</vt:lpstr>
      <vt:lpstr>Alternative Security Controls</vt:lpstr>
      <vt:lpstr>CCTV#4</vt:lpstr>
      <vt:lpstr>PowerPoint Presentation</vt:lpstr>
      <vt:lpstr>Implementation SOP </vt:lpstr>
      <vt:lpstr>PowerPoint Presentation</vt:lpstr>
      <vt:lpstr>Solution Validation</vt:lpstr>
      <vt:lpstr>Evaluation and Continuous Improvement </vt:lpstr>
      <vt:lpstr>Decommissioning</vt:lpstr>
      <vt:lpstr>Legal, Ethical and Cultural Considerations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TECH460 Module 2</dc:title>
  <dc:creator>Walker, Russ</dc:creator>
  <cp:lastModifiedBy>Riddick, Deshaun</cp:lastModifiedBy>
  <cp:revision>41</cp:revision>
  <dcterms:created xsi:type="dcterms:W3CDTF">2020-12-10T16:23:50Z</dcterms:created>
  <dcterms:modified xsi:type="dcterms:W3CDTF">2024-10-14T05:57:48Z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0x01010007FF29DAF2B2474CAA0976D75413A80B</vt:lpwstr>
  </property>
</Properties>
</file>